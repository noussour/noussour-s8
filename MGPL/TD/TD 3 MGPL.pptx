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notesMasterIdLst>
    <p:notesMasterId r:id="rId59"/>
  </p:notesMasterIdLst>
  <p:handoutMasterIdLst>
    <p:handoutMasterId r:id="rId60"/>
  </p:handoutMasterIdLst>
  <p:sldIdLst>
    <p:sldId id="693" r:id="rId2"/>
    <p:sldId id="697" r:id="rId3"/>
    <p:sldId id="729" r:id="rId4"/>
    <p:sldId id="728" r:id="rId5"/>
    <p:sldId id="698" r:id="rId6"/>
    <p:sldId id="694" r:id="rId7"/>
    <p:sldId id="730" r:id="rId8"/>
    <p:sldId id="732" r:id="rId9"/>
    <p:sldId id="733" r:id="rId10"/>
    <p:sldId id="734" r:id="rId11"/>
    <p:sldId id="735" r:id="rId12"/>
    <p:sldId id="736" r:id="rId13"/>
    <p:sldId id="699" r:id="rId14"/>
    <p:sldId id="701" r:id="rId15"/>
    <p:sldId id="737" r:id="rId16"/>
    <p:sldId id="702" r:id="rId17"/>
    <p:sldId id="738" r:id="rId18"/>
    <p:sldId id="703" r:id="rId19"/>
    <p:sldId id="739" r:id="rId20"/>
    <p:sldId id="704" r:id="rId21"/>
    <p:sldId id="740" r:id="rId22"/>
    <p:sldId id="705" r:id="rId23"/>
    <p:sldId id="741" r:id="rId24"/>
    <p:sldId id="744" r:id="rId25"/>
    <p:sldId id="745" r:id="rId26"/>
    <p:sldId id="746" r:id="rId27"/>
    <p:sldId id="747" r:id="rId28"/>
    <p:sldId id="748" r:id="rId29"/>
    <p:sldId id="742" r:id="rId30"/>
    <p:sldId id="749" r:id="rId31"/>
    <p:sldId id="750" r:id="rId32"/>
    <p:sldId id="743" r:id="rId33"/>
    <p:sldId id="751" r:id="rId34"/>
    <p:sldId id="752" r:id="rId35"/>
    <p:sldId id="753" r:id="rId36"/>
    <p:sldId id="754" r:id="rId37"/>
    <p:sldId id="755" r:id="rId38"/>
    <p:sldId id="756" r:id="rId39"/>
    <p:sldId id="757" r:id="rId40"/>
    <p:sldId id="758" r:id="rId41"/>
    <p:sldId id="759" r:id="rId42"/>
    <p:sldId id="760" r:id="rId43"/>
    <p:sldId id="761" r:id="rId44"/>
    <p:sldId id="762" r:id="rId45"/>
    <p:sldId id="763" r:id="rId46"/>
    <p:sldId id="766" r:id="rId47"/>
    <p:sldId id="767" r:id="rId48"/>
    <p:sldId id="768" r:id="rId49"/>
    <p:sldId id="764" r:id="rId50"/>
    <p:sldId id="769" r:id="rId51"/>
    <p:sldId id="770" r:id="rId52"/>
    <p:sldId id="765" r:id="rId53"/>
    <p:sldId id="771" r:id="rId54"/>
    <p:sldId id="772" r:id="rId55"/>
    <p:sldId id="773" r:id="rId56"/>
    <p:sldId id="774" r:id="rId57"/>
    <p:sldId id="775" r:id="rId58"/>
  </p:sldIdLst>
  <p:sldSz cx="12192000" cy="6858000"/>
  <p:notesSz cx="6858000" cy="9144000"/>
  <p:defaultTex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00AA48"/>
    <a:srgbClr val="FF0066"/>
    <a:srgbClr val="CC0099"/>
    <a:srgbClr val="0070C0"/>
    <a:srgbClr val="FF6600"/>
    <a:srgbClr val="FF0000"/>
    <a:srgbClr val="FFFFFF"/>
    <a:srgbClr val="FF99FF"/>
    <a:srgbClr val="8F50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505E3EF-67EA-436B-97B2-0124C06EBD24}" styleName="Style moyen 4 - Accentuation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13" autoAdjust="0"/>
    <p:restoredTop sz="87347" autoAdjust="0"/>
  </p:normalViewPr>
  <p:slideViewPr>
    <p:cSldViewPr snapToGrid="0">
      <p:cViewPr varScale="1">
        <p:scale>
          <a:sx n="54" d="100"/>
          <a:sy n="54" d="100"/>
        </p:scale>
        <p:origin x="928" y="60"/>
      </p:cViewPr>
      <p:guideLst/>
    </p:cSldViewPr>
  </p:slideViewPr>
  <p:notesTextViewPr>
    <p:cViewPr>
      <p:scale>
        <a:sx n="1" d="1"/>
        <a:sy n="1" d="1"/>
      </p:scale>
      <p:origin x="0" y="0"/>
    </p:cViewPr>
  </p:notesTextViewPr>
  <p:notesViewPr>
    <p:cSldViewPr snapToGrid="0">
      <p:cViewPr varScale="1">
        <p:scale>
          <a:sx n="120" d="100"/>
          <a:sy n="120" d="100"/>
        </p:scale>
        <p:origin x="5040"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2641A86-FBF4-4831-9FF4-7B487F3492D7}" type="datetime1">
              <a:rPr lang="fr-FR" smtClean="0"/>
              <a:t>13/04/2026</a:t>
            </a:fld>
            <a:endParaRPr lang="en-US" dirty="0"/>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ED92CB86-0DB9-4A70-B1CF-B23508471F6B}" type="slidenum">
              <a:rPr lang="en-US" smtClean="0"/>
              <a:t>‹N°›</a:t>
            </a:fld>
            <a:endParaRPr lang="en-US"/>
          </a:p>
        </p:txBody>
      </p:sp>
    </p:spTree>
    <p:extLst>
      <p:ext uri="{BB962C8B-B14F-4D97-AF65-F5344CB8AC3E}">
        <p14:creationId xmlns:p14="http://schemas.microsoft.com/office/powerpoint/2010/main" val="663557642"/>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1713F8BB-B1B5-4D35-A08C-A275931309FC}" type="datetime1">
              <a:rPr lang="fr-FR" smtClean="0"/>
              <a:t>13/04/2026</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
              <a:t>Modifiez les styles du texte du masque</a:t>
            </a:r>
            <a:endParaRPr lang="en-US"/>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C2B151B-D7D1-48E5-8230-5AADBC794F88}" type="slidenum">
              <a:rPr lang="en-US" smtClean="0"/>
              <a:t>‹N°›</a:t>
            </a:fld>
            <a:endParaRPr lang="en-US"/>
          </a:p>
        </p:txBody>
      </p:sp>
    </p:spTree>
    <p:extLst>
      <p:ext uri="{BB962C8B-B14F-4D97-AF65-F5344CB8AC3E}">
        <p14:creationId xmlns:p14="http://schemas.microsoft.com/office/powerpoint/2010/main" val="313859278"/>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re 1"/>
          <p:cNvSpPr>
            <a:spLocks noGrp="1"/>
          </p:cNvSpPr>
          <p:nvPr>
            <p:ph type="ctrTitle" hasCustomPrompt="1"/>
          </p:nvPr>
        </p:nvSpPr>
        <p:spPr>
          <a:xfrm>
            <a:off x="1097280" y="758952"/>
            <a:ext cx="10058400" cy="3566160"/>
          </a:xfrm>
        </p:spPr>
        <p:txBody>
          <a:bodyPr rtlCol="0" anchor="b">
            <a:normAutofit/>
          </a:bodyPr>
          <a:lstStyle>
            <a:lvl1pPr algn="l">
              <a:lnSpc>
                <a:spcPct val="90000"/>
              </a:lnSpc>
              <a:defRPr sz="8000" spc="-50" baseline="0">
                <a:solidFill>
                  <a:schemeClr val="tx1">
                    <a:lumMod val="85000"/>
                    <a:lumOff val="15000"/>
                  </a:schemeClr>
                </a:solidFill>
              </a:defRPr>
            </a:lvl1pPr>
          </a:lstStyle>
          <a:p>
            <a:pPr rtl="0"/>
            <a:r>
              <a:rPr lang="fr" dirty="0"/>
              <a:t>Modifiez le style du titre</a:t>
            </a:r>
            <a:endParaRPr lang="en-US" dirty="0"/>
          </a:p>
        </p:txBody>
      </p:sp>
      <p:sp>
        <p:nvSpPr>
          <p:cNvPr id="3" name="Sous-titre 2"/>
          <p:cNvSpPr>
            <a:spLocks noGrp="1"/>
          </p:cNvSpPr>
          <p:nvPr>
            <p:ph type="subTitle" idx="1"/>
          </p:nvPr>
        </p:nvSpPr>
        <p:spPr>
          <a:xfrm>
            <a:off x="1100051" y="4645152"/>
            <a:ext cx="10058400" cy="1143000"/>
          </a:xfrm>
        </p:spPr>
        <p:txBody>
          <a:bodyPr lIns="91440" rIns="91440" rtlCol="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fr-FR"/>
              <a:t>Modifiez le style des sous-titres du masque</a:t>
            </a:r>
            <a:endParaRPr lang="en-US" dirty="0"/>
          </a:p>
        </p:txBody>
      </p:sp>
      <p:cxnSp>
        <p:nvCxnSpPr>
          <p:cNvPr id="9" name="Connecteur droit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Espace réservé de la date 3">
            <a:extLst>
              <a:ext uri="{FF2B5EF4-FFF2-40B4-BE49-F238E27FC236}">
                <a16:creationId xmlns:a16="http://schemas.microsoft.com/office/drawing/2014/main" id="{9925CCF1-92C0-4AF3-BFAF-4921631915AB}"/>
              </a:ext>
            </a:extLst>
          </p:cNvPr>
          <p:cNvSpPr>
            <a:spLocks noGrp="1"/>
          </p:cNvSpPr>
          <p:nvPr>
            <p:ph type="dt" sz="half" idx="10"/>
          </p:nvPr>
        </p:nvSpPr>
        <p:spPr/>
        <p:txBody>
          <a:bodyPr rtlCol="0"/>
          <a:lstStyle/>
          <a:p>
            <a:pPr rtl="0"/>
            <a:fld id="{EABA18A1-B72F-49DD-8A51-DC4A9B10C77C}" type="datetime1">
              <a:rPr lang="fr-FR" smtClean="0"/>
              <a:t>13/04/2026</a:t>
            </a:fld>
            <a:endParaRPr lang="en-US" dirty="0"/>
          </a:p>
        </p:txBody>
      </p:sp>
      <p:sp>
        <p:nvSpPr>
          <p:cNvPr id="5" name="Espace réservé du pied de page 4">
            <a:extLst>
              <a:ext uri="{FF2B5EF4-FFF2-40B4-BE49-F238E27FC236}">
                <a16:creationId xmlns:a16="http://schemas.microsoft.com/office/drawing/2014/main" id="{051A78A9-3DFF-4937-A9F2-5D8CF495F367}"/>
              </a:ext>
            </a:extLst>
          </p:cNvPr>
          <p:cNvSpPr>
            <a:spLocks noGrp="1"/>
          </p:cNvSpPr>
          <p:nvPr>
            <p:ph type="ftr" sz="quarter" idx="11"/>
          </p:nvPr>
        </p:nvSpPr>
        <p:spPr/>
        <p:txBody>
          <a:bodyPr rtlCol="0"/>
          <a:lstStyle/>
          <a:p>
            <a:pPr rtl="0"/>
            <a:endParaRPr lang="en-US" dirty="0"/>
          </a:p>
        </p:txBody>
      </p:sp>
      <p:sp>
        <p:nvSpPr>
          <p:cNvPr id="6" name="Espace réservé du numéro de diapositive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a:t>Modifiez le style du titre</a:t>
            </a:r>
            <a:endParaRPr lang="en-US" dirty="0"/>
          </a:p>
        </p:txBody>
      </p:sp>
      <p:sp>
        <p:nvSpPr>
          <p:cNvPr id="3" name="Espace réservé du contenu 2"/>
          <p:cNvSpPr>
            <a:spLocks noGrp="1"/>
          </p:cNvSpPr>
          <p:nvPr>
            <p:ph idx="1"/>
          </p:nvPr>
        </p:nvSpPr>
        <p:spPr/>
        <p:txBody>
          <a:bodyPr rtlCol="0"/>
          <a:lstStyle/>
          <a:p>
            <a:pPr lvl="0" rtl="0"/>
            <a:r>
              <a:rPr lang="fr-FR" dirty="0"/>
              <a:t>Cliquez pour modifier les styles du texte du masque</a:t>
            </a:r>
          </a:p>
          <a:p>
            <a:pPr lvl="1" rtl="0"/>
            <a:r>
              <a:rPr lang="fr-FR" dirty="0"/>
              <a:t>Deuxième niveau</a:t>
            </a:r>
          </a:p>
          <a:p>
            <a:pPr lvl="2" rtl="0"/>
            <a:r>
              <a:rPr lang="fr-FR" dirty="0"/>
              <a:t>Troisième niveau</a:t>
            </a:r>
          </a:p>
          <a:p>
            <a:pPr lvl="3" rtl="0"/>
            <a:r>
              <a:rPr lang="fr-FR" dirty="0"/>
              <a:t>Quatrième niveau</a:t>
            </a:r>
          </a:p>
          <a:p>
            <a:pPr lvl="4" rtl="0"/>
            <a:r>
              <a:rPr lang="fr-FR" dirty="0"/>
              <a:t>Cinquième niveau</a:t>
            </a:r>
            <a:endParaRPr lang="en-US" dirty="0"/>
          </a:p>
        </p:txBody>
      </p:sp>
      <p:sp>
        <p:nvSpPr>
          <p:cNvPr id="7" name="Espace réservé de la date 6">
            <a:extLst>
              <a:ext uri="{FF2B5EF4-FFF2-40B4-BE49-F238E27FC236}">
                <a16:creationId xmlns:a16="http://schemas.microsoft.com/office/drawing/2014/main" id="{354D8B55-9EA8-4B81-8E84-9B93B0A27559}"/>
              </a:ext>
            </a:extLst>
          </p:cNvPr>
          <p:cNvSpPr>
            <a:spLocks noGrp="1"/>
          </p:cNvSpPr>
          <p:nvPr>
            <p:ph type="dt" sz="half" idx="10"/>
          </p:nvPr>
        </p:nvSpPr>
        <p:spPr/>
        <p:txBody>
          <a:bodyPr rtlCol="0"/>
          <a:lstStyle/>
          <a:p>
            <a:pPr rtl="0"/>
            <a:fld id="{75162FBC-E467-46B8-ABE1-98D95CFF2BA6}" type="datetime1">
              <a:rPr lang="fr-FR" smtClean="0"/>
              <a:t>13/04/2026</a:t>
            </a:fld>
            <a:endParaRPr lang="en-US" dirty="0"/>
          </a:p>
        </p:txBody>
      </p:sp>
      <p:sp>
        <p:nvSpPr>
          <p:cNvPr id="8" name="Espace réservé du pied de page 7">
            <a:extLst>
              <a:ext uri="{FF2B5EF4-FFF2-40B4-BE49-F238E27FC236}">
                <a16:creationId xmlns:a16="http://schemas.microsoft.com/office/drawing/2014/main" id="{062CA021-2578-47CB-822C-BDDFF7223B28}"/>
              </a:ext>
            </a:extLst>
          </p:cNvPr>
          <p:cNvSpPr>
            <a:spLocks noGrp="1"/>
          </p:cNvSpPr>
          <p:nvPr>
            <p:ph type="ftr" sz="quarter" idx="11"/>
          </p:nvPr>
        </p:nvSpPr>
        <p:spPr/>
        <p:txBody>
          <a:bodyPr rtlCol="0"/>
          <a:lstStyle/>
          <a:p>
            <a:pPr rtl="0"/>
            <a:endParaRPr lang="en-US" dirty="0"/>
          </a:p>
        </p:txBody>
      </p:sp>
      <p:sp>
        <p:nvSpPr>
          <p:cNvPr id="9" name="Espace réservé du numéro de diapositive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tête de section">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re 1"/>
          <p:cNvSpPr>
            <a:spLocks noGrp="1"/>
          </p:cNvSpPr>
          <p:nvPr>
            <p:ph type="title" hasCustomPrompt="1"/>
          </p:nvPr>
        </p:nvSpPr>
        <p:spPr>
          <a:xfrm>
            <a:off x="1097280" y="758952"/>
            <a:ext cx="10058400" cy="3566160"/>
          </a:xfrm>
        </p:spPr>
        <p:txBody>
          <a:bodyPr rtlCol="0" anchor="b" anchorCtr="0">
            <a:normAutofit/>
          </a:bodyPr>
          <a:lstStyle>
            <a:lvl1pPr>
              <a:lnSpc>
                <a:spcPct val="90000"/>
              </a:lnSpc>
              <a:defRPr sz="8000" b="0">
                <a:solidFill>
                  <a:schemeClr val="tx1">
                    <a:lumMod val="85000"/>
                    <a:lumOff val="15000"/>
                  </a:schemeClr>
                </a:solidFill>
              </a:defRPr>
            </a:lvl1pPr>
          </a:lstStyle>
          <a:p>
            <a:pPr rtl="0"/>
            <a:r>
              <a:rPr lang="fr" dirty="0"/>
              <a:t>Modifiez le style du titre</a:t>
            </a:r>
            <a:endParaRPr lang="en-US" dirty="0"/>
          </a:p>
        </p:txBody>
      </p:sp>
      <p:sp>
        <p:nvSpPr>
          <p:cNvPr id="3" name="Espace réservé du texte 2"/>
          <p:cNvSpPr>
            <a:spLocks noGrp="1"/>
          </p:cNvSpPr>
          <p:nvPr>
            <p:ph type="body" idx="1"/>
          </p:nvPr>
        </p:nvSpPr>
        <p:spPr>
          <a:xfrm>
            <a:off x="1097280" y="4663440"/>
            <a:ext cx="10058400" cy="1143000"/>
          </a:xfrm>
        </p:spPr>
        <p:txBody>
          <a:bodyPr lIns="91440" rIns="91440" rtlCol="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fr-FR"/>
              <a:t>Cliquez pour modifier les styles du texte du masque</a:t>
            </a:r>
          </a:p>
        </p:txBody>
      </p:sp>
      <p:sp>
        <p:nvSpPr>
          <p:cNvPr id="7" name="Espace réservé de la date 6">
            <a:extLst>
              <a:ext uri="{FF2B5EF4-FFF2-40B4-BE49-F238E27FC236}">
                <a16:creationId xmlns:a16="http://schemas.microsoft.com/office/drawing/2014/main" id="{AAF2E137-EC28-48F8-9198-1F02539029B6}"/>
              </a:ext>
            </a:extLst>
          </p:cNvPr>
          <p:cNvSpPr>
            <a:spLocks noGrp="1"/>
          </p:cNvSpPr>
          <p:nvPr>
            <p:ph type="dt" sz="half" idx="10"/>
          </p:nvPr>
        </p:nvSpPr>
        <p:spPr/>
        <p:txBody>
          <a:bodyPr rtlCol="0"/>
          <a:lstStyle/>
          <a:p>
            <a:pPr rtl="0"/>
            <a:fld id="{E7F64E0A-ACF3-44BD-A54D-C44EDE2996DF}" type="datetime1">
              <a:rPr lang="fr-FR" smtClean="0"/>
              <a:t>13/04/2026</a:t>
            </a:fld>
            <a:endParaRPr lang="en-US" dirty="0"/>
          </a:p>
        </p:txBody>
      </p:sp>
      <p:sp>
        <p:nvSpPr>
          <p:cNvPr id="8" name="Espace réservé du pied de page 7">
            <a:extLst>
              <a:ext uri="{FF2B5EF4-FFF2-40B4-BE49-F238E27FC236}">
                <a16:creationId xmlns:a16="http://schemas.microsoft.com/office/drawing/2014/main" id="{189422CD-6F62-4DD6-89EF-07A60B42D219}"/>
              </a:ext>
            </a:extLst>
          </p:cNvPr>
          <p:cNvSpPr>
            <a:spLocks noGrp="1"/>
          </p:cNvSpPr>
          <p:nvPr>
            <p:ph type="ftr" sz="quarter" idx="11"/>
          </p:nvPr>
        </p:nvSpPr>
        <p:spPr/>
        <p:txBody>
          <a:bodyPr rtlCol="0"/>
          <a:lstStyle/>
          <a:p>
            <a:pPr rtl="0"/>
            <a:endParaRPr lang="en-US" dirty="0"/>
          </a:p>
        </p:txBody>
      </p:sp>
      <p:sp>
        <p:nvSpPr>
          <p:cNvPr id="11" name="Espace réservé du numéro de diapositive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re 7"/>
          <p:cNvSpPr>
            <a:spLocks noGrp="1"/>
          </p:cNvSpPr>
          <p:nvPr>
            <p:ph type="title" hasCustomPrompt="1"/>
          </p:nvPr>
        </p:nvSpPr>
        <p:spPr>
          <a:xfrm>
            <a:off x="1097280" y="286603"/>
            <a:ext cx="10058400" cy="1450757"/>
          </a:xfrm>
        </p:spPr>
        <p:txBody>
          <a:bodyPr rtlCol="0"/>
          <a:lstStyle>
            <a:lvl1pPr>
              <a:defRPr/>
            </a:lvl1pPr>
          </a:lstStyle>
          <a:p>
            <a:pPr rtl="0"/>
            <a:r>
              <a:rPr lang="fr" dirty="0"/>
              <a:t>Modifiez le style du titre du masque</a:t>
            </a:r>
            <a:endParaRPr lang="en-US" dirty="0"/>
          </a:p>
        </p:txBody>
      </p:sp>
      <p:sp>
        <p:nvSpPr>
          <p:cNvPr id="3" name="Espace réservé du contenu 2"/>
          <p:cNvSpPr>
            <a:spLocks noGrp="1"/>
          </p:cNvSpPr>
          <p:nvPr>
            <p:ph sz="half" idx="1"/>
          </p:nvPr>
        </p:nvSpPr>
        <p:spPr>
          <a:xfrm>
            <a:off x="1097280" y="2120900"/>
            <a:ext cx="4639736" cy="3748193"/>
          </a:xfrm>
        </p:spPr>
        <p:txBody>
          <a:bodyPr rtlCol="0"/>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en-US" dirty="0"/>
          </a:p>
        </p:txBody>
      </p:sp>
      <p:sp>
        <p:nvSpPr>
          <p:cNvPr id="4" name="Espace réservé du contenu 3"/>
          <p:cNvSpPr>
            <a:spLocks noGrp="1"/>
          </p:cNvSpPr>
          <p:nvPr>
            <p:ph sz="half" idx="2"/>
          </p:nvPr>
        </p:nvSpPr>
        <p:spPr>
          <a:xfrm>
            <a:off x="6515944" y="2120900"/>
            <a:ext cx="4639736" cy="3748194"/>
          </a:xfrm>
        </p:spPr>
        <p:txBody>
          <a:bodyPr rtlCol="0"/>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en-US" dirty="0"/>
          </a:p>
        </p:txBody>
      </p:sp>
      <p:sp>
        <p:nvSpPr>
          <p:cNvPr id="2" name="Espace réservé de la date 1">
            <a:extLst>
              <a:ext uri="{FF2B5EF4-FFF2-40B4-BE49-F238E27FC236}">
                <a16:creationId xmlns:a16="http://schemas.microsoft.com/office/drawing/2014/main" id="{5782D47D-B0DC-4C40-BCC6-BBBA32584A38}"/>
              </a:ext>
            </a:extLst>
          </p:cNvPr>
          <p:cNvSpPr>
            <a:spLocks noGrp="1"/>
          </p:cNvSpPr>
          <p:nvPr>
            <p:ph type="dt" sz="half" idx="10"/>
          </p:nvPr>
        </p:nvSpPr>
        <p:spPr/>
        <p:txBody>
          <a:bodyPr rtlCol="0"/>
          <a:lstStyle/>
          <a:p>
            <a:pPr rtl="0"/>
            <a:fld id="{F810B38C-D4F5-42C2-967A-0B7FC97B2621}" type="datetime1">
              <a:rPr lang="fr-FR" smtClean="0"/>
              <a:t>13/04/2026</a:t>
            </a:fld>
            <a:endParaRPr lang="en-US" dirty="0"/>
          </a:p>
        </p:txBody>
      </p:sp>
      <p:sp>
        <p:nvSpPr>
          <p:cNvPr id="9" name="Espace réservé du pied de page 8">
            <a:extLst>
              <a:ext uri="{FF2B5EF4-FFF2-40B4-BE49-F238E27FC236}">
                <a16:creationId xmlns:a16="http://schemas.microsoft.com/office/drawing/2014/main" id="{4690D34E-7EBD-44B2-83CA-4C126A18D7EF}"/>
              </a:ext>
            </a:extLst>
          </p:cNvPr>
          <p:cNvSpPr>
            <a:spLocks noGrp="1"/>
          </p:cNvSpPr>
          <p:nvPr>
            <p:ph type="ftr" sz="quarter" idx="11"/>
          </p:nvPr>
        </p:nvSpPr>
        <p:spPr/>
        <p:txBody>
          <a:bodyPr rtlCol="0"/>
          <a:lstStyle/>
          <a:p>
            <a:pPr rtl="0"/>
            <a:endParaRPr lang="en-US" dirty="0"/>
          </a:p>
        </p:txBody>
      </p:sp>
      <p:sp>
        <p:nvSpPr>
          <p:cNvPr id="10" name="Espace réservé du numéro de diapositive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re 9"/>
          <p:cNvSpPr>
            <a:spLocks noGrp="1"/>
          </p:cNvSpPr>
          <p:nvPr>
            <p:ph type="title"/>
          </p:nvPr>
        </p:nvSpPr>
        <p:spPr>
          <a:xfrm>
            <a:off x="1097280" y="286603"/>
            <a:ext cx="10058400" cy="1450757"/>
          </a:xfrm>
        </p:spPr>
        <p:txBody>
          <a:bodyPr rtlCol="0"/>
          <a:lstStyle/>
          <a:p>
            <a:pPr rtl="0"/>
            <a:r>
              <a:rPr lang="fr-FR"/>
              <a:t>Modifiez le style du titre</a:t>
            </a:r>
            <a:endParaRPr lang="en-US" dirty="0"/>
          </a:p>
        </p:txBody>
      </p:sp>
      <p:sp>
        <p:nvSpPr>
          <p:cNvPr id="3" name="Espace réservé du texte 2"/>
          <p:cNvSpPr>
            <a:spLocks noGrp="1"/>
          </p:cNvSpPr>
          <p:nvPr>
            <p:ph type="body" idx="1" hasCustomPrompt="1"/>
          </p:nvPr>
        </p:nvSpPr>
        <p:spPr>
          <a:xfrm>
            <a:off x="1097280" y="2057400"/>
            <a:ext cx="4639736" cy="736282"/>
          </a:xfrm>
        </p:spPr>
        <p:txBody>
          <a:bodyPr lIns="91440" rIns="91440" rtlCol="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 dirty="0"/>
              <a:t>Modifiez les styles du texte du masque</a:t>
            </a:r>
          </a:p>
        </p:txBody>
      </p:sp>
      <p:sp>
        <p:nvSpPr>
          <p:cNvPr id="4" name="Espace réservé du contenu 3"/>
          <p:cNvSpPr>
            <a:spLocks noGrp="1"/>
          </p:cNvSpPr>
          <p:nvPr>
            <p:ph sz="half" idx="2"/>
          </p:nvPr>
        </p:nvSpPr>
        <p:spPr>
          <a:xfrm>
            <a:off x="1097280" y="2958274"/>
            <a:ext cx="4639736" cy="2910821"/>
          </a:xfrm>
        </p:spPr>
        <p:txBody>
          <a:bodyPr rtlCol="0"/>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en-US" dirty="0"/>
          </a:p>
        </p:txBody>
      </p:sp>
      <p:sp>
        <p:nvSpPr>
          <p:cNvPr id="5" name="Espace réservé du texte 4"/>
          <p:cNvSpPr>
            <a:spLocks noGrp="1"/>
          </p:cNvSpPr>
          <p:nvPr>
            <p:ph type="body" sz="quarter" idx="3" hasCustomPrompt="1"/>
          </p:nvPr>
        </p:nvSpPr>
        <p:spPr>
          <a:xfrm>
            <a:off x="6515944" y="2057400"/>
            <a:ext cx="4639736" cy="736282"/>
          </a:xfrm>
        </p:spPr>
        <p:txBody>
          <a:bodyPr lIns="91440" rIns="91440" rtlCol="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 dirty="0"/>
              <a:t>Modifiez les styles du texte du masque</a:t>
            </a:r>
          </a:p>
        </p:txBody>
      </p:sp>
      <p:sp>
        <p:nvSpPr>
          <p:cNvPr id="6" name="Espace réservé du contenu 5"/>
          <p:cNvSpPr>
            <a:spLocks noGrp="1"/>
          </p:cNvSpPr>
          <p:nvPr>
            <p:ph sz="quarter" idx="4"/>
          </p:nvPr>
        </p:nvSpPr>
        <p:spPr>
          <a:xfrm>
            <a:off x="6515944" y="2958273"/>
            <a:ext cx="4639736" cy="2910821"/>
          </a:xfrm>
        </p:spPr>
        <p:txBody>
          <a:bodyPr rtlCol="0"/>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en-US" dirty="0"/>
          </a:p>
        </p:txBody>
      </p:sp>
      <p:sp>
        <p:nvSpPr>
          <p:cNvPr id="2" name="Espace réservé de la date 1">
            <a:extLst>
              <a:ext uri="{FF2B5EF4-FFF2-40B4-BE49-F238E27FC236}">
                <a16:creationId xmlns:a16="http://schemas.microsoft.com/office/drawing/2014/main" id="{8AF8A515-AA94-45D1-9223-5C2272618D85}"/>
              </a:ext>
            </a:extLst>
          </p:cNvPr>
          <p:cNvSpPr>
            <a:spLocks noGrp="1"/>
          </p:cNvSpPr>
          <p:nvPr>
            <p:ph type="dt" sz="half" idx="10"/>
          </p:nvPr>
        </p:nvSpPr>
        <p:spPr/>
        <p:txBody>
          <a:bodyPr rtlCol="0"/>
          <a:lstStyle/>
          <a:p>
            <a:pPr rtl="0"/>
            <a:fld id="{76C9646D-2F82-4FD6-98A1-C2A4C26D0529}" type="datetime1">
              <a:rPr lang="fr-FR" smtClean="0"/>
              <a:t>13/04/2026</a:t>
            </a:fld>
            <a:endParaRPr lang="en-US" dirty="0"/>
          </a:p>
        </p:txBody>
      </p:sp>
      <p:sp>
        <p:nvSpPr>
          <p:cNvPr id="11" name="Espace réservé du pied de page 10">
            <a:extLst>
              <a:ext uri="{FF2B5EF4-FFF2-40B4-BE49-F238E27FC236}">
                <a16:creationId xmlns:a16="http://schemas.microsoft.com/office/drawing/2014/main" id="{D052F5BC-98E0-4D60-AD67-9547738B7DD4}"/>
              </a:ext>
            </a:extLst>
          </p:cNvPr>
          <p:cNvSpPr>
            <a:spLocks noGrp="1"/>
          </p:cNvSpPr>
          <p:nvPr>
            <p:ph type="ftr" sz="quarter" idx="11"/>
          </p:nvPr>
        </p:nvSpPr>
        <p:spPr/>
        <p:txBody>
          <a:bodyPr rtlCol="0"/>
          <a:lstStyle/>
          <a:p>
            <a:pPr rtl="0"/>
            <a:endParaRPr lang="en-US" dirty="0"/>
          </a:p>
        </p:txBody>
      </p:sp>
      <p:sp>
        <p:nvSpPr>
          <p:cNvPr id="12" name="Espace réservé au numéro de diapositive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uniquement">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rtlCol="0"/>
          <a:lstStyle>
            <a:lvl1pPr>
              <a:defRPr/>
            </a:lvl1pPr>
          </a:lstStyle>
          <a:p>
            <a:pPr rtl="0"/>
            <a:r>
              <a:rPr lang="fr" dirty="0"/>
              <a:t>Cliquez pour modifier le style du titre du masque</a:t>
            </a:r>
            <a:endParaRPr lang="en-US" dirty="0"/>
          </a:p>
        </p:txBody>
      </p:sp>
      <p:sp>
        <p:nvSpPr>
          <p:cNvPr id="6" name="Espace réservé de la date 5">
            <a:extLst>
              <a:ext uri="{FF2B5EF4-FFF2-40B4-BE49-F238E27FC236}">
                <a16:creationId xmlns:a16="http://schemas.microsoft.com/office/drawing/2014/main" id="{7392073F-158F-44A3-8913-917AFFC1BC20}"/>
              </a:ext>
            </a:extLst>
          </p:cNvPr>
          <p:cNvSpPr>
            <a:spLocks noGrp="1"/>
          </p:cNvSpPr>
          <p:nvPr>
            <p:ph type="dt" sz="half" idx="10"/>
          </p:nvPr>
        </p:nvSpPr>
        <p:spPr/>
        <p:txBody>
          <a:bodyPr rtlCol="0"/>
          <a:lstStyle/>
          <a:p>
            <a:pPr rtl="0"/>
            <a:fld id="{63595C77-250B-4737-9E4A-69E5939CBC16}" type="datetime1">
              <a:rPr lang="fr-FR" smtClean="0"/>
              <a:t>13/04/2026</a:t>
            </a:fld>
            <a:endParaRPr lang="en-US" dirty="0"/>
          </a:p>
        </p:txBody>
      </p:sp>
      <p:sp>
        <p:nvSpPr>
          <p:cNvPr id="7" name="Espace réservé du pied de page 6">
            <a:extLst>
              <a:ext uri="{FF2B5EF4-FFF2-40B4-BE49-F238E27FC236}">
                <a16:creationId xmlns:a16="http://schemas.microsoft.com/office/drawing/2014/main" id="{EED72207-24CA-42B7-A975-2F8E41CBA904}"/>
              </a:ext>
            </a:extLst>
          </p:cNvPr>
          <p:cNvSpPr>
            <a:spLocks noGrp="1"/>
          </p:cNvSpPr>
          <p:nvPr>
            <p:ph type="ftr" sz="quarter" idx="11"/>
          </p:nvPr>
        </p:nvSpPr>
        <p:spPr/>
        <p:txBody>
          <a:bodyPr rtlCol="0"/>
          <a:lstStyle/>
          <a:p>
            <a:pPr rtl="0"/>
            <a:endParaRPr lang="en-US" dirty="0"/>
          </a:p>
        </p:txBody>
      </p:sp>
      <p:sp>
        <p:nvSpPr>
          <p:cNvPr id="8" name="Espace réservé du numéro de diapositive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Espace réservé de la date 1">
            <a:extLst>
              <a:ext uri="{FF2B5EF4-FFF2-40B4-BE49-F238E27FC236}">
                <a16:creationId xmlns:a16="http://schemas.microsoft.com/office/drawing/2014/main" id="{94E9223F-721F-47BF-9FD5-0F8D12FF0DE1}"/>
              </a:ext>
            </a:extLst>
          </p:cNvPr>
          <p:cNvSpPr>
            <a:spLocks noGrp="1"/>
          </p:cNvSpPr>
          <p:nvPr>
            <p:ph type="dt" sz="half" idx="10"/>
          </p:nvPr>
        </p:nvSpPr>
        <p:spPr/>
        <p:txBody>
          <a:bodyPr rtlCol="0"/>
          <a:lstStyle/>
          <a:p>
            <a:pPr rtl="0"/>
            <a:fld id="{8C7E81F3-FFCD-4236-B158-26C78CAC6E11}" type="datetime1">
              <a:rPr lang="fr-FR" smtClean="0"/>
              <a:t>13/04/2026</a:t>
            </a:fld>
            <a:endParaRPr lang="en-US" dirty="0"/>
          </a:p>
        </p:txBody>
      </p:sp>
      <p:sp>
        <p:nvSpPr>
          <p:cNvPr id="3" name="Espace réservé du pied de page 2">
            <a:extLst>
              <a:ext uri="{FF2B5EF4-FFF2-40B4-BE49-F238E27FC236}">
                <a16:creationId xmlns:a16="http://schemas.microsoft.com/office/drawing/2014/main" id="{05915714-6BBA-4593-8591-4E26F7D58D9F}"/>
              </a:ext>
            </a:extLst>
          </p:cNvPr>
          <p:cNvSpPr>
            <a:spLocks noGrp="1"/>
          </p:cNvSpPr>
          <p:nvPr>
            <p:ph type="ftr" sz="quarter" idx="11"/>
          </p:nvPr>
        </p:nvSpPr>
        <p:spPr/>
        <p:txBody>
          <a:bodyPr rtlCol="0"/>
          <a:lstStyle/>
          <a:p>
            <a:pPr rtl="0"/>
            <a:endParaRPr lang="en-US" dirty="0"/>
          </a:p>
        </p:txBody>
      </p:sp>
      <p:sp>
        <p:nvSpPr>
          <p:cNvPr id="4" name="Espace réservé du numéro de diapositive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re 1"/>
          <p:cNvSpPr>
            <a:spLocks noGrp="1"/>
          </p:cNvSpPr>
          <p:nvPr>
            <p:ph type="title"/>
          </p:nvPr>
        </p:nvSpPr>
        <p:spPr>
          <a:xfrm>
            <a:off x="643466" y="786383"/>
            <a:ext cx="3517567" cy="2093975"/>
          </a:xfrm>
        </p:spPr>
        <p:txBody>
          <a:bodyPr rtlCol="0" anchor="b">
            <a:normAutofit/>
          </a:bodyPr>
          <a:lstStyle>
            <a:lvl1pPr>
              <a:lnSpc>
                <a:spcPct val="90000"/>
              </a:lnSpc>
              <a:defRPr sz="3600" b="0">
                <a:solidFill>
                  <a:srgbClr val="FFFFFF"/>
                </a:solidFill>
              </a:defRPr>
            </a:lvl1pPr>
          </a:lstStyle>
          <a:p>
            <a:pPr rtl="0"/>
            <a:r>
              <a:rPr lang="fr-FR"/>
              <a:t>Modifiez le style du titre</a:t>
            </a:r>
            <a:endParaRPr lang="en-US" dirty="0"/>
          </a:p>
        </p:txBody>
      </p:sp>
      <p:sp>
        <p:nvSpPr>
          <p:cNvPr id="3" name="Espace réservé du contenu 2"/>
          <p:cNvSpPr>
            <a:spLocks noGrp="1"/>
          </p:cNvSpPr>
          <p:nvPr>
            <p:ph idx="1"/>
          </p:nvPr>
        </p:nvSpPr>
        <p:spPr>
          <a:xfrm>
            <a:off x="5458984" y="812799"/>
            <a:ext cx="5928344" cy="5294757"/>
          </a:xfrm>
        </p:spPr>
        <p:txBody>
          <a:bodyPr rtlCol="0"/>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en-US" dirty="0"/>
          </a:p>
        </p:txBody>
      </p:sp>
      <p:sp>
        <p:nvSpPr>
          <p:cNvPr id="4" name="Espace réservé du texte 3"/>
          <p:cNvSpPr>
            <a:spLocks noGrp="1"/>
          </p:cNvSpPr>
          <p:nvPr>
            <p:ph type="body" sz="half" idx="2" hasCustomPrompt="1"/>
          </p:nvPr>
        </p:nvSpPr>
        <p:spPr>
          <a:xfrm>
            <a:off x="643465" y="3043050"/>
            <a:ext cx="3517567" cy="3064505"/>
          </a:xfrm>
        </p:spPr>
        <p:txBody>
          <a:bodyPr lIns="91440" rIns="91440" rtlCol="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 dirty="0"/>
              <a:t>Modifiez les styles du texte du masque</a:t>
            </a:r>
          </a:p>
        </p:txBody>
      </p:sp>
      <p:sp>
        <p:nvSpPr>
          <p:cNvPr id="5" name="Espace réservé de la date 4"/>
          <p:cNvSpPr>
            <a:spLocks noGrp="1"/>
          </p:cNvSpPr>
          <p:nvPr>
            <p:ph type="dt" sz="half" idx="10"/>
          </p:nvPr>
        </p:nvSpPr>
        <p:spPr>
          <a:xfrm>
            <a:off x="643464" y="6446520"/>
            <a:ext cx="3517568" cy="365125"/>
          </a:xfrm>
        </p:spPr>
        <p:txBody>
          <a:bodyPr rtlCol="0"/>
          <a:lstStyle>
            <a:lvl1pPr algn="l">
              <a:defRPr/>
            </a:lvl1pPr>
          </a:lstStyle>
          <a:p>
            <a:pPr rtl="0"/>
            <a:fld id="{0A97361A-7C50-452A-9761-2F2CCDC29838}" type="datetime1">
              <a:rPr lang="fr-FR" smtClean="0"/>
              <a:t>13/04/2026</a:t>
            </a:fld>
            <a:endParaRPr lang="en-US" dirty="0"/>
          </a:p>
        </p:txBody>
      </p:sp>
      <p:sp>
        <p:nvSpPr>
          <p:cNvPr id="6" name="Espace réservé du pied de page 5"/>
          <p:cNvSpPr>
            <a:spLocks noGrp="1"/>
          </p:cNvSpPr>
          <p:nvPr>
            <p:ph type="ftr" sz="quarter" idx="11"/>
          </p:nvPr>
        </p:nvSpPr>
        <p:spPr>
          <a:xfrm>
            <a:off x="5458983" y="6446520"/>
            <a:ext cx="5334019" cy="365125"/>
          </a:xfrm>
        </p:spPr>
        <p:txBody>
          <a:bodyPr rtlCol="0"/>
          <a:lstStyle>
            <a:lvl1pPr algn="l">
              <a:defRPr>
                <a:solidFill>
                  <a:schemeClr val="tx2"/>
                </a:solidFill>
              </a:defRPr>
            </a:lvl1pPr>
          </a:lstStyle>
          <a:p>
            <a:pPr rtl="0"/>
            <a:endParaRPr lang="en-US" dirty="0"/>
          </a:p>
        </p:txBody>
      </p:sp>
      <p:sp>
        <p:nvSpPr>
          <p:cNvPr id="7" name="Espace réservé au numéro de diapositive 6"/>
          <p:cNvSpPr>
            <a:spLocks noGrp="1"/>
          </p:cNvSpPr>
          <p:nvPr>
            <p:ph type="sldNum" sz="quarter" idx="12"/>
          </p:nvPr>
        </p:nvSpPr>
        <p:spPr/>
        <p:txBody>
          <a:bodyPr rtlCol="0"/>
          <a:lstStyle>
            <a:lvl1pPr>
              <a:defRPr>
                <a:solidFill>
                  <a:schemeClr val="tx2"/>
                </a:solidFill>
              </a:defRPr>
            </a:lvl1pPr>
          </a:lstStyle>
          <a:p>
            <a:pPr rtl="0"/>
            <a:fld id="{3A98EE3D-8CD1-4C3F-BD1C-C98C9596463C}" type="slidenum">
              <a:rPr lang="en-US" smtClean="0"/>
              <a:pPr rtl="0"/>
              <a:t>‹N°›</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Espace réservé d’image 2"/>
          <p:cNvSpPr>
            <a:spLocks noGrp="1" noChangeAspect="1"/>
          </p:cNvSpPr>
          <p:nvPr>
            <p:ph type="pic" idx="1"/>
          </p:nvPr>
        </p:nvSpPr>
        <p:spPr>
          <a:xfrm>
            <a:off x="15" y="0"/>
            <a:ext cx="12191985" cy="4578350"/>
          </a:xfrm>
          <a:solidFill>
            <a:schemeClr val="bg1">
              <a:lumMod val="85000"/>
            </a:schemeClr>
          </a:solidFill>
        </p:spPr>
        <p:txBody>
          <a:bodyPr lIns="457200" tIns="457200"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a:t>Cliquez sur l'icône pour ajouter une image</a:t>
            </a:r>
            <a:endParaRPr lang="en-US" dirty="0"/>
          </a:p>
        </p:txBody>
      </p:sp>
      <p:sp>
        <p:nvSpPr>
          <p:cNvPr id="2" name="Titre 1"/>
          <p:cNvSpPr>
            <a:spLocks noGrp="1"/>
          </p:cNvSpPr>
          <p:nvPr>
            <p:ph type="title"/>
          </p:nvPr>
        </p:nvSpPr>
        <p:spPr>
          <a:xfrm>
            <a:off x="1097279" y="4799362"/>
            <a:ext cx="10113645" cy="743682"/>
          </a:xfrm>
        </p:spPr>
        <p:txBody>
          <a:bodyPr tIns="0" bIns="0" rtlCol="0" anchor="b">
            <a:noAutofit/>
          </a:bodyPr>
          <a:lstStyle>
            <a:lvl1pPr>
              <a:defRPr sz="3600" b="0">
                <a:solidFill>
                  <a:srgbClr val="FFFFFF"/>
                </a:solidFill>
              </a:defRPr>
            </a:lvl1pPr>
          </a:lstStyle>
          <a:p>
            <a:pPr rtl="0"/>
            <a:r>
              <a:rPr lang="fr-FR"/>
              <a:t>Modifiez le style du titre</a:t>
            </a:r>
            <a:endParaRPr lang="en-US" dirty="0"/>
          </a:p>
        </p:txBody>
      </p:sp>
      <p:sp>
        <p:nvSpPr>
          <p:cNvPr id="4" name="Espace réservé du texte 3"/>
          <p:cNvSpPr>
            <a:spLocks noGrp="1"/>
          </p:cNvSpPr>
          <p:nvPr>
            <p:ph type="body" sz="half" idx="2"/>
          </p:nvPr>
        </p:nvSpPr>
        <p:spPr>
          <a:xfrm>
            <a:off x="1097279" y="5715000"/>
            <a:ext cx="10113264" cy="609600"/>
          </a:xfrm>
        </p:spPr>
        <p:txBody>
          <a:bodyPr lIns="91440" tIns="0" rIns="91440" bIns="0" rtlCol="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a:t>Cliquez pour modifier les styles du texte du masque</a:t>
            </a:r>
          </a:p>
        </p:txBody>
      </p:sp>
      <p:sp>
        <p:nvSpPr>
          <p:cNvPr id="5" name="Espace réservé de la date 4"/>
          <p:cNvSpPr>
            <a:spLocks noGrp="1"/>
          </p:cNvSpPr>
          <p:nvPr>
            <p:ph type="dt" sz="half" idx="10"/>
          </p:nvPr>
        </p:nvSpPr>
        <p:spPr/>
        <p:txBody>
          <a:bodyPr rtlCol="0"/>
          <a:lstStyle>
            <a:lvl1pPr>
              <a:defRPr/>
            </a:lvl1pPr>
          </a:lstStyle>
          <a:p>
            <a:pPr rtl="0"/>
            <a:fld id="{7E208F8F-9785-4D7E-B2D7-6FB9149CAF24}" type="datetime1">
              <a:rPr lang="fr-FR" smtClean="0"/>
              <a:t>13/04/2026</a:t>
            </a:fld>
            <a:endParaRPr lang="en-US" dirty="0"/>
          </a:p>
        </p:txBody>
      </p:sp>
      <p:sp>
        <p:nvSpPr>
          <p:cNvPr id="6" name="Espace réservé au pied de page 5"/>
          <p:cNvSpPr>
            <a:spLocks noGrp="1"/>
          </p:cNvSpPr>
          <p:nvPr>
            <p:ph type="ftr" sz="quarter" idx="11"/>
          </p:nvPr>
        </p:nvSpPr>
        <p:spPr>
          <a:xfrm>
            <a:off x="1097279" y="6446838"/>
            <a:ext cx="6818262" cy="365125"/>
          </a:xfrm>
        </p:spPr>
        <p:txBody>
          <a:bodyPr rtlCol="0"/>
          <a:lstStyle/>
          <a:p>
            <a:pPr algn="l" rtl="0"/>
            <a:endParaRPr lang="en-US" dirty="0"/>
          </a:p>
        </p:txBody>
      </p:sp>
      <p:sp>
        <p:nvSpPr>
          <p:cNvPr id="7" name="Espace réservé du numéro de diapositive 6"/>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a:t>Modifiez le style du titre</a:t>
            </a:r>
            <a:endParaRPr lang="en-US" dirty="0"/>
          </a:p>
        </p:txBody>
      </p:sp>
      <p:sp>
        <p:nvSpPr>
          <p:cNvPr id="3" name="Espace réservé du texte vertical 2"/>
          <p:cNvSpPr>
            <a:spLocks noGrp="1"/>
          </p:cNvSpPr>
          <p:nvPr>
            <p:ph type="body" orient="vert" idx="1"/>
          </p:nvPr>
        </p:nvSpPr>
        <p:spPr/>
        <p:txBody>
          <a:bodyPr vert="eaVert" lIns="45720" tIns="0" rIns="45720" bIns="0" rtlCol="0"/>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en-US" dirty="0"/>
          </a:p>
        </p:txBody>
      </p:sp>
      <p:sp>
        <p:nvSpPr>
          <p:cNvPr id="7" name="Espace réservé de la date 6">
            <a:extLst>
              <a:ext uri="{FF2B5EF4-FFF2-40B4-BE49-F238E27FC236}">
                <a16:creationId xmlns:a16="http://schemas.microsoft.com/office/drawing/2014/main" id="{7D5506EE-1026-4F35-9ACC-BD05BE0F9B36}"/>
              </a:ext>
            </a:extLst>
          </p:cNvPr>
          <p:cNvSpPr>
            <a:spLocks noGrp="1"/>
          </p:cNvSpPr>
          <p:nvPr>
            <p:ph type="dt" sz="half" idx="10"/>
          </p:nvPr>
        </p:nvSpPr>
        <p:spPr/>
        <p:txBody>
          <a:bodyPr rtlCol="0"/>
          <a:lstStyle/>
          <a:p>
            <a:pPr rtl="0"/>
            <a:fld id="{97A74DDF-14B3-4359-B246-DC1DC867FD8F}" type="datetime1">
              <a:rPr lang="fr-FR" smtClean="0"/>
              <a:t>13/04/2026</a:t>
            </a:fld>
            <a:endParaRPr lang="en-US" dirty="0"/>
          </a:p>
        </p:txBody>
      </p:sp>
      <p:sp>
        <p:nvSpPr>
          <p:cNvPr id="8" name="Espace réservé du pied de page 7">
            <a:extLst>
              <a:ext uri="{FF2B5EF4-FFF2-40B4-BE49-F238E27FC236}">
                <a16:creationId xmlns:a16="http://schemas.microsoft.com/office/drawing/2014/main" id="{B7696E5F-8D95-4450-AE52-5438E6EDE2BF}"/>
              </a:ext>
            </a:extLst>
          </p:cNvPr>
          <p:cNvSpPr>
            <a:spLocks noGrp="1"/>
          </p:cNvSpPr>
          <p:nvPr>
            <p:ph type="ftr" sz="quarter" idx="11"/>
          </p:nvPr>
        </p:nvSpPr>
        <p:spPr/>
        <p:txBody>
          <a:bodyPr rtlCol="0"/>
          <a:lstStyle/>
          <a:p>
            <a:pPr rtl="0"/>
            <a:endParaRPr lang="en-US" dirty="0"/>
          </a:p>
        </p:txBody>
      </p:sp>
      <p:sp>
        <p:nvSpPr>
          <p:cNvPr id="9" name="Espace réservé du numéro de diapositive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re vertical 1"/>
          <p:cNvSpPr>
            <a:spLocks noGrp="1"/>
          </p:cNvSpPr>
          <p:nvPr>
            <p:ph type="title" orient="vert" hasCustomPrompt="1"/>
          </p:nvPr>
        </p:nvSpPr>
        <p:spPr>
          <a:xfrm>
            <a:off x="8724900" y="412302"/>
            <a:ext cx="2628900" cy="5759898"/>
          </a:xfrm>
        </p:spPr>
        <p:txBody>
          <a:bodyPr vert="eaVert" rtlCol="0"/>
          <a:lstStyle>
            <a:lvl1pPr>
              <a:defRPr/>
            </a:lvl1pPr>
          </a:lstStyle>
          <a:p>
            <a:pPr rtl="0"/>
            <a:r>
              <a:rPr lang="fr" dirty="0"/>
              <a:t>Modifiez le style du titre</a:t>
            </a:r>
            <a:endParaRPr lang="en-US" dirty="0"/>
          </a:p>
        </p:txBody>
      </p:sp>
      <p:sp>
        <p:nvSpPr>
          <p:cNvPr id="3" name="Espace réservé du texte vertical 2"/>
          <p:cNvSpPr>
            <a:spLocks noGrp="1"/>
          </p:cNvSpPr>
          <p:nvPr>
            <p:ph type="body" orient="vert" idx="1"/>
          </p:nvPr>
        </p:nvSpPr>
        <p:spPr>
          <a:xfrm>
            <a:off x="838200" y="412302"/>
            <a:ext cx="7734300" cy="5759898"/>
          </a:xfrm>
        </p:spPr>
        <p:txBody>
          <a:bodyPr vert="eaVert" lIns="45720" tIns="0" rIns="45720" bIns="0" rtlCol="0"/>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en-US" dirty="0"/>
          </a:p>
        </p:txBody>
      </p:sp>
      <p:sp>
        <p:nvSpPr>
          <p:cNvPr id="7" name="Espace réservé de la date 6">
            <a:extLst>
              <a:ext uri="{FF2B5EF4-FFF2-40B4-BE49-F238E27FC236}">
                <a16:creationId xmlns:a16="http://schemas.microsoft.com/office/drawing/2014/main" id="{AF33D6B0-F070-45C4-A472-19F432BE3932}"/>
              </a:ext>
            </a:extLst>
          </p:cNvPr>
          <p:cNvSpPr>
            <a:spLocks noGrp="1"/>
          </p:cNvSpPr>
          <p:nvPr>
            <p:ph type="dt" sz="half" idx="10"/>
          </p:nvPr>
        </p:nvSpPr>
        <p:spPr/>
        <p:txBody>
          <a:bodyPr rtlCol="0"/>
          <a:lstStyle/>
          <a:p>
            <a:pPr rtl="0"/>
            <a:fld id="{72DB94D9-FA33-4622-B5B0-3A212B55AFC9}" type="datetime1">
              <a:rPr lang="fr-FR" smtClean="0"/>
              <a:t>13/04/2026</a:t>
            </a:fld>
            <a:endParaRPr lang="en-US" dirty="0"/>
          </a:p>
        </p:txBody>
      </p:sp>
      <p:sp>
        <p:nvSpPr>
          <p:cNvPr id="8" name="Espace réservé du pied de page 7">
            <a:extLst>
              <a:ext uri="{FF2B5EF4-FFF2-40B4-BE49-F238E27FC236}">
                <a16:creationId xmlns:a16="http://schemas.microsoft.com/office/drawing/2014/main" id="{9975399F-DAB2-410D-967F-ED17E6F796E7}"/>
              </a:ext>
            </a:extLst>
          </p:cNvPr>
          <p:cNvSpPr>
            <a:spLocks noGrp="1"/>
          </p:cNvSpPr>
          <p:nvPr>
            <p:ph type="ftr" sz="quarter" idx="11"/>
          </p:nvPr>
        </p:nvSpPr>
        <p:spPr/>
        <p:txBody>
          <a:bodyPr rtlCol="0"/>
          <a:lstStyle/>
          <a:p>
            <a:pPr rtl="0"/>
            <a:endParaRPr lang="en-US" dirty="0"/>
          </a:p>
        </p:txBody>
      </p:sp>
      <p:sp>
        <p:nvSpPr>
          <p:cNvPr id="10" name="Espace réservé du numéro de diapositive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Espace réservé du titre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pPr rtl="0"/>
            <a:r>
              <a:rPr lang="fr"/>
              <a:t>Modifiez le style du titre</a:t>
            </a:r>
            <a:endParaRPr lang="en-US" dirty="0"/>
          </a:p>
        </p:txBody>
      </p:sp>
      <p:sp>
        <p:nvSpPr>
          <p:cNvPr id="3" name="Espace réservé du texte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rtl="0"/>
            <a:r>
              <a:rPr lang="fr"/>
              <a:t>Modifiez les styles du texte du masque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4" name="Espace réservé de la date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pPr rtl="0"/>
            <a:fld id="{33CD2423-DC0C-47A2-8916-10643EB35EC9}" type="datetime1">
              <a:rPr lang="fr-FR" smtClean="0"/>
              <a:t>13/04/2026</a:t>
            </a:fld>
            <a:endParaRPr lang="en-US" dirty="0"/>
          </a:p>
        </p:txBody>
      </p:sp>
      <p:sp>
        <p:nvSpPr>
          <p:cNvPr id="5" name="Espace réservé du pied de page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pPr rtl="0"/>
            <a:endParaRPr lang="en-US" dirty="0"/>
          </a:p>
        </p:txBody>
      </p:sp>
      <p:sp>
        <p:nvSpPr>
          <p:cNvPr id="6" name="Espace réservé du numéro de diapositive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pPr rtl="0"/>
            <a:fld id="{3A98EE3D-8CD1-4C3F-BD1C-C98C9596463C}" type="slidenum">
              <a:rPr lang="en-US" smtClean="0"/>
              <a:t>‹N°›</a:t>
            </a:fld>
            <a:endParaRPr lang="en-US" dirty="0"/>
          </a:p>
        </p:txBody>
      </p:sp>
      <p:cxnSp>
        <p:nvCxnSpPr>
          <p:cNvPr id="10" name="Connecteur droit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67DB54-AC89-2474-23EF-58D8E3BC5136}"/>
              </a:ext>
            </a:extLst>
          </p:cNvPr>
          <p:cNvSpPr>
            <a:spLocks noGrp="1"/>
          </p:cNvSpPr>
          <p:nvPr>
            <p:ph type="title"/>
          </p:nvPr>
        </p:nvSpPr>
        <p:spPr/>
        <p:txBody>
          <a:bodyPr/>
          <a:lstStyle/>
          <a:p>
            <a:pPr algn="ctr"/>
            <a:r>
              <a:rPr lang="en-GB" dirty="0"/>
              <a:t>BMPN</a:t>
            </a:r>
          </a:p>
        </p:txBody>
      </p:sp>
      <p:sp>
        <p:nvSpPr>
          <p:cNvPr id="3" name="Espace réservé du contenu 2">
            <a:extLst>
              <a:ext uri="{FF2B5EF4-FFF2-40B4-BE49-F238E27FC236}">
                <a16:creationId xmlns:a16="http://schemas.microsoft.com/office/drawing/2014/main" id="{A780AE96-9E5B-DC34-B70C-806BEA95BA8C}"/>
              </a:ext>
            </a:extLst>
          </p:cNvPr>
          <p:cNvSpPr>
            <a:spLocks noGrp="1"/>
          </p:cNvSpPr>
          <p:nvPr>
            <p:ph idx="1"/>
          </p:nvPr>
        </p:nvSpPr>
        <p:spPr>
          <a:xfrm>
            <a:off x="304008" y="2211653"/>
            <a:ext cx="11644943" cy="3760891"/>
          </a:xfrm>
        </p:spPr>
        <p:txBody>
          <a:bodyPr>
            <a:normAutofit/>
          </a:bodyPr>
          <a:lstStyle/>
          <a:p>
            <a:pPr marL="457200" indent="-457200">
              <a:buFont typeface="+mj-lt"/>
              <a:buAutoNum type="arabicPeriod"/>
            </a:pPr>
            <a:r>
              <a:rPr lang="en-GB" sz="3200" dirty="0"/>
              <a:t>Introduction</a:t>
            </a:r>
          </a:p>
          <a:p>
            <a:pPr marL="457200" indent="-457200">
              <a:buFont typeface="+mj-lt"/>
              <a:buAutoNum type="arabicPeriod"/>
            </a:pPr>
            <a:r>
              <a:rPr lang="en-GB" sz="3200" dirty="0"/>
              <a:t>Processus </a:t>
            </a:r>
            <a:r>
              <a:rPr lang="en-GB" sz="3200" dirty="0" err="1"/>
              <a:t>métier</a:t>
            </a:r>
            <a:endParaRPr lang="en-GB" sz="3200" dirty="0"/>
          </a:p>
          <a:p>
            <a:pPr marL="457200" indent="-457200">
              <a:buFont typeface="+mj-lt"/>
              <a:buAutoNum type="arabicPeriod"/>
            </a:pPr>
            <a:r>
              <a:rPr lang="en-GB" sz="3200" dirty="0"/>
              <a:t>Gestion des processus </a:t>
            </a:r>
            <a:r>
              <a:rPr lang="en-GB" sz="3200" dirty="0" err="1"/>
              <a:t>métier</a:t>
            </a:r>
            <a:r>
              <a:rPr lang="en-GB" sz="3200" dirty="0"/>
              <a:t> (BPM)</a:t>
            </a:r>
          </a:p>
          <a:p>
            <a:pPr marL="457200" indent="-457200">
              <a:buFont typeface="+mj-lt"/>
              <a:buAutoNum type="arabicPeriod"/>
            </a:pPr>
            <a:r>
              <a:rPr lang="en-GB" sz="3200" dirty="0"/>
              <a:t>Workflow</a:t>
            </a:r>
          </a:p>
          <a:p>
            <a:pPr marL="457200" indent="-457200">
              <a:buFont typeface="+mj-lt"/>
              <a:buAutoNum type="arabicPeriod"/>
            </a:pPr>
            <a:r>
              <a:rPr lang="fr-FR" sz="3100" dirty="0"/>
              <a:t>La modélisation et langage de modélisation des processus métier</a:t>
            </a:r>
          </a:p>
        </p:txBody>
      </p:sp>
      <p:sp>
        <p:nvSpPr>
          <p:cNvPr id="4" name="Espace réservé de la date 3">
            <a:extLst>
              <a:ext uri="{FF2B5EF4-FFF2-40B4-BE49-F238E27FC236}">
                <a16:creationId xmlns:a16="http://schemas.microsoft.com/office/drawing/2014/main" id="{841D8E8F-A24D-38C5-0F27-58C878864C55}"/>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2411032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0CD8F9-40DF-86DB-06A3-42E41F196D00}"/>
              </a:ext>
            </a:extLst>
          </p:cNvPr>
          <p:cNvSpPr>
            <a:spLocks noGrp="1"/>
          </p:cNvSpPr>
          <p:nvPr>
            <p:ph type="title"/>
          </p:nvPr>
        </p:nvSpPr>
        <p:spPr/>
        <p:txBody>
          <a:bodyPr/>
          <a:lstStyle/>
          <a:p>
            <a:r>
              <a:rPr lang="en-GB" dirty="0"/>
              <a:t>Definition</a:t>
            </a:r>
          </a:p>
        </p:txBody>
      </p:sp>
      <p:sp>
        <p:nvSpPr>
          <p:cNvPr id="3" name="Espace réservé du contenu 2">
            <a:extLst>
              <a:ext uri="{FF2B5EF4-FFF2-40B4-BE49-F238E27FC236}">
                <a16:creationId xmlns:a16="http://schemas.microsoft.com/office/drawing/2014/main" id="{956E0603-59FA-D817-2362-CCC690320E71}"/>
              </a:ext>
            </a:extLst>
          </p:cNvPr>
          <p:cNvSpPr>
            <a:spLocks noGrp="1"/>
          </p:cNvSpPr>
          <p:nvPr>
            <p:ph idx="1"/>
          </p:nvPr>
        </p:nvSpPr>
        <p:spPr>
          <a:xfrm>
            <a:off x="1066800" y="1882570"/>
            <a:ext cx="10058400" cy="3760891"/>
          </a:xfrm>
        </p:spPr>
        <p:txBody>
          <a:bodyPr>
            <a:noAutofit/>
          </a:bodyPr>
          <a:lstStyle/>
          <a:p>
            <a:r>
              <a:rPr lang="fr-FR" sz="2400" dirty="0"/>
              <a:t>Le concept processus métier, a été défini « en tant qu’un enchaînement d’activités corrélées ou interactives. Un processus reçoit des objets en entrée et leur ajoute de la valeur, par le moyen de ressources, tout en fournissant des objets de sortie (produits/services) remplissant les besoins et les exigences d’un client (atteindre les objectifs) internes ou externes à l’entreprise. Il ne peut être déclenché que par des événements internes et/ou externes à l’entreprise, c’est-à-dire des changements d’état de composants du système. Chaque processus est en communication avec d’autres et peut être décomposé en sous-processus. Une activité transforme des entrées en sorties par l’influence d’objets de contrôle et en utilisant les ressources requises et disponibles pendant une durée bien définie »</a:t>
            </a:r>
            <a:endParaRPr lang="en-GB" sz="2400" dirty="0"/>
          </a:p>
        </p:txBody>
      </p:sp>
      <p:sp>
        <p:nvSpPr>
          <p:cNvPr id="4" name="Espace réservé de la date 3">
            <a:extLst>
              <a:ext uri="{FF2B5EF4-FFF2-40B4-BE49-F238E27FC236}">
                <a16:creationId xmlns:a16="http://schemas.microsoft.com/office/drawing/2014/main" id="{EE6A2D20-98C2-7694-D8EE-FD50BDA32784}"/>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1607205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F0BBE9-B64C-F6C9-6A83-7649CC75AA8D}"/>
              </a:ext>
            </a:extLst>
          </p:cNvPr>
          <p:cNvSpPr>
            <a:spLocks noGrp="1"/>
          </p:cNvSpPr>
          <p:nvPr>
            <p:ph type="title"/>
          </p:nvPr>
        </p:nvSpPr>
        <p:spPr/>
        <p:txBody>
          <a:bodyPr/>
          <a:lstStyle/>
          <a:p>
            <a:r>
              <a:rPr lang="en-GB" dirty="0" err="1"/>
              <a:t>Définition</a:t>
            </a:r>
            <a:endParaRPr lang="en-GB" dirty="0"/>
          </a:p>
        </p:txBody>
      </p:sp>
      <p:sp>
        <p:nvSpPr>
          <p:cNvPr id="3" name="Espace réservé du contenu 2">
            <a:extLst>
              <a:ext uri="{FF2B5EF4-FFF2-40B4-BE49-F238E27FC236}">
                <a16:creationId xmlns:a16="http://schemas.microsoft.com/office/drawing/2014/main" id="{EA6D58B0-BA9C-6CDA-781C-9D963DCFBC18}"/>
              </a:ext>
            </a:extLst>
          </p:cNvPr>
          <p:cNvSpPr>
            <a:spLocks noGrp="1"/>
          </p:cNvSpPr>
          <p:nvPr>
            <p:ph idx="1"/>
          </p:nvPr>
        </p:nvSpPr>
        <p:spPr/>
        <p:txBody>
          <a:bodyPr>
            <a:normAutofit/>
          </a:bodyPr>
          <a:lstStyle/>
          <a:p>
            <a:r>
              <a:rPr lang="fr-FR" sz="2800" dirty="0"/>
              <a:t>Chaque processus est en communication avec d’autres et peut être décomposé en sous-processus. Une activité transforme des entrées en sorties par l’influence d’objets de contrôle et en utilisant les ressources requises et disponibles pendant une durée bien définie »</a:t>
            </a:r>
            <a:endParaRPr lang="en-GB" sz="2800" dirty="0"/>
          </a:p>
          <a:p>
            <a:endParaRPr lang="en-GB" sz="2800" dirty="0"/>
          </a:p>
        </p:txBody>
      </p:sp>
      <p:sp>
        <p:nvSpPr>
          <p:cNvPr id="4" name="Espace réservé de la date 3">
            <a:extLst>
              <a:ext uri="{FF2B5EF4-FFF2-40B4-BE49-F238E27FC236}">
                <a16:creationId xmlns:a16="http://schemas.microsoft.com/office/drawing/2014/main" id="{311EE669-8A13-E4CA-43C2-EB77CE48E891}"/>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1835803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00BFD7-1462-B63F-785F-87D6213B396B}"/>
              </a:ext>
            </a:extLst>
          </p:cNvPr>
          <p:cNvSpPr>
            <a:spLocks noGrp="1"/>
          </p:cNvSpPr>
          <p:nvPr>
            <p:ph type="title"/>
          </p:nvPr>
        </p:nvSpPr>
        <p:spPr/>
        <p:txBody>
          <a:bodyPr/>
          <a:lstStyle/>
          <a:p>
            <a:r>
              <a:rPr lang="en-GB" dirty="0" err="1"/>
              <a:t>Exemple</a:t>
            </a:r>
            <a:r>
              <a:rPr lang="en-GB" dirty="0"/>
              <a:t> de processus </a:t>
            </a:r>
            <a:r>
              <a:rPr lang="en-GB" dirty="0" err="1"/>
              <a:t>métier</a:t>
            </a:r>
            <a:endParaRPr lang="en-GB" dirty="0"/>
          </a:p>
        </p:txBody>
      </p:sp>
      <p:pic>
        <p:nvPicPr>
          <p:cNvPr id="6" name="Espace réservé du contenu 5">
            <a:extLst>
              <a:ext uri="{FF2B5EF4-FFF2-40B4-BE49-F238E27FC236}">
                <a16:creationId xmlns:a16="http://schemas.microsoft.com/office/drawing/2014/main" id="{4EE01926-2798-7148-81BE-C9A28A33E558}"/>
              </a:ext>
            </a:extLst>
          </p:cNvPr>
          <p:cNvPicPr>
            <a:picLocks noGrp="1" noChangeAspect="1"/>
          </p:cNvPicPr>
          <p:nvPr>
            <p:ph idx="1"/>
          </p:nvPr>
        </p:nvPicPr>
        <p:blipFill>
          <a:blip r:embed="rId2"/>
          <a:stretch>
            <a:fillRect/>
          </a:stretch>
        </p:blipFill>
        <p:spPr>
          <a:xfrm>
            <a:off x="2124028" y="2193402"/>
            <a:ext cx="8218025" cy="2471195"/>
          </a:xfrm>
          <a:prstGeom prst="rect">
            <a:avLst/>
          </a:prstGeom>
        </p:spPr>
      </p:pic>
      <p:sp>
        <p:nvSpPr>
          <p:cNvPr id="4" name="Espace réservé de la date 3">
            <a:extLst>
              <a:ext uri="{FF2B5EF4-FFF2-40B4-BE49-F238E27FC236}">
                <a16:creationId xmlns:a16="http://schemas.microsoft.com/office/drawing/2014/main" id="{25B3B696-658E-9F53-AB01-7D67D48159DA}"/>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915271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FFFDEB-9838-BD2E-7102-9AB6805678C7}"/>
              </a:ext>
            </a:extLst>
          </p:cNvPr>
          <p:cNvSpPr>
            <a:spLocks noGrp="1"/>
          </p:cNvSpPr>
          <p:nvPr>
            <p:ph type="title"/>
          </p:nvPr>
        </p:nvSpPr>
        <p:spPr/>
        <p:txBody>
          <a:bodyPr/>
          <a:lstStyle/>
          <a:p>
            <a:r>
              <a:rPr lang="en-GB" dirty="0" err="1"/>
              <a:t>Définition</a:t>
            </a:r>
            <a:endParaRPr lang="en-GB" dirty="0"/>
          </a:p>
        </p:txBody>
      </p:sp>
      <p:sp>
        <p:nvSpPr>
          <p:cNvPr id="3" name="Espace réservé du contenu 2">
            <a:extLst>
              <a:ext uri="{FF2B5EF4-FFF2-40B4-BE49-F238E27FC236}">
                <a16:creationId xmlns:a16="http://schemas.microsoft.com/office/drawing/2014/main" id="{F1F7CDB8-F99E-EFA7-6236-439DA20697BE}"/>
              </a:ext>
            </a:extLst>
          </p:cNvPr>
          <p:cNvSpPr>
            <a:spLocks noGrp="1"/>
          </p:cNvSpPr>
          <p:nvPr>
            <p:ph idx="1"/>
          </p:nvPr>
        </p:nvSpPr>
        <p:spPr/>
        <p:txBody>
          <a:bodyPr>
            <a:normAutofit/>
          </a:bodyPr>
          <a:lstStyle/>
          <a:p>
            <a:r>
              <a:rPr lang="en-GB" sz="2800" dirty="0"/>
              <a:t>On </a:t>
            </a:r>
            <a:r>
              <a:rPr lang="en-GB" sz="2800" dirty="0" err="1"/>
              <a:t>déduit</a:t>
            </a:r>
            <a:r>
              <a:rPr lang="en-GB" sz="2800" dirty="0"/>
              <a:t> de la definition </a:t>
            </a:r>
            <a:r>
              <a:rPr lang="en-GB" sz="2800" dirty="0" err="1"/>
              <a:t>précédente</a:t>
            </a:r>
            <a:r>
              <a:rPr lang="en-GB" sz="2800" dirty="0"/>
              <a:t> </a:t>
            </a:r>
            <a:r>
              <a:rPr lang="fr-FR" sz="2800" dirty="0"/>
              <a:t>qu’un processus métier est un enchainement ordonné d’activité aboutissant à un résultat déterminé qui est spécifique pour un client ou un partenaire particulier. Ces activités sont exécutées par des personnes ou par des applications.</a:t>
            </a:r>
          </a:p>
          <a:p>
            <a:r>
              <a:rPr lang="fr-FR" sz="2800" dirty="0"/>
              <a:t>Un processus est déclenché par un événement qui lui est externe et doit produire à un résultat qui est sa raison d’être.</a:t>
            </a:r>
            <a:endParaRPr lang="en-GB" sz="2800" dirty="0"/>
          </a:p>
        </p:txBody>
      </p:sp>
      <p:sp>
        <p:nvSpPr>
          <p:cNvPr id="4" name="Espace réservé de la date 3">
            <a:extLst>
              <a:ext uri="{FF2B5EF4-FFF2-40B4-BE49-F238E27FC236}">
                <a16:creationId xmlns:a16="http://schemas.microsoft.com/office/drawing/2014/main" id="{6712AA05-C164-75EA-E5F5-4FD64DBC8D70}"/>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2793979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33CF7C7-0E13-800D-8303-5ACAD385B331}"/>
              </a:ext>
            </a:extLst>
          </p:cNvPr>
          <p:cNvSpPr>
            <a:spLocks noGrp="1"/>
          </p:cNvSpPr>
          <p:nvPr>
            <p:ph type="title"/>
          </p:nvPr>
        </p:nvSpPr>
        <p:spPr/>
        <p:txBody>
          <a:bodyPr/>
          <a:lstStyle/>
          <a:p>
            <a:r>
              <a:rPr lang="en-GB" dirty="0"/>
              <a:t>Gestion des processus </a:t>
            </a:r>
            <a:r>
              <a:rPr lang="en-GB" dirty="0" err="1"/>
              <a:t>métier</a:t>
            </a:r>
            <a:endParaRPr lang="en-GB" dirty="0"/>
          </a:p>
        </p:txBody>
      </p:sp>
      <p:sp>
        <p:nvSpPr>
          <p:cNvPr id="3" name="Espace réservé du contenu 2">
            <a:extLst>
              <a:ext uri="{FF2B5EF4-FFF2-40B4-BE49-F238E27FC236}">
                <a16:creationId xmlns:a16="http://schemas.microsoft.com/office/drawing/2014/main" id="{163EA26D-1980-A047-659D-D0AF4B78E06C}"/>
              </a:ext>
            </a:extLst>
          </p:cNvPr>
          <p:cNvSpPr>
            <a:spLocks noGrp="1"/>
          </p:cNvSpPr>
          <p:nvPr>
            <p:ph idx="1"/>
          </p:nvPr>
        </p:nvSpPr>
        <p:spPr>
          <a:xfrm>
            <a:off x="289758" y="1957676"/>
            <a:ext cx="11673444" cy="4150095"/>
          </a:xfrm>
        </p:spPr>
        <p:txBody>
          <a:bodyPr>
            <a:noAutofit/>
          </a:bodyPr>
          <a:lstStyle/>
          <a:p>
            <a:r>
              <a:rPr lang="fr-FR" sz="2400" dirty="0"/>
              <a:t>Plusieurs définitions ont été données pour le terme de gestion des processus métier :</a:t>
            </a:r>
          </a:p>
          <a:p>
            <a:r>
              <a:rPr lang="fr-FR" sz="2400" dirty="0"/>
              <a:t>D’après Van Der Aalst et al. (2003) « BPM comprend les méthodes, les techniques et les outils pour concevoir, exécuter, gérer et analyser les processus opérationnels en s’appuyant sur des acteurs qui peuvent être des êtres humains, des organisations, des applications et d’autres </a:t>
            </a:r>
            <a:r>
              <a:rPr lang="en-GB" sz="2400" dirty="0"/>
              <a:t>sources </a:t>
            </a:r>
            <a:r>
              <a:rPr lang="en-GB" sz="2400" dirty="0" err="1"/>
              <a:t>d’information</a:t>
            </a:r>
            <a:r>
              <a:rPr lang="en-GB" sz="2400" dirty="0"/>
              <a:t> » .</a:t>
            </a:r>
          </a:p>
          <a:p>
            <a:r>
              <a:rPr lang="fr-FR" sz="2400" dirty="0"/>
              <a:t>Business Process Management (BPM) est défini comme « l’art de la modélisation, la gestion et l’optimisation des processus métiers afin d’augmenter la performance des entreprises. Cela nécessite de s’accompagner d’outils pour modéliser, intégrer, superviser et analyser le fonctionnement des processus durant leur cycle de vie pour gérer et améliorer les processus de </a:t>
            </a:r>
            <a:r>
              <a:rPr lang="en-GB" sz="2400" dirty="0" err="1"/>
              <a:t>l’entreprise</a:t>
            </a:r>
            <a:r>
              <a:rPr lang="en-GB" sz="2400" dirty="0"/>
              <a:t> ».</a:t>
            </a:r>
          </a:p>
        </p:txBody>
      </p:sp>
      <p:sp>
        <p:nvSpPr>
          <p:cNvPr id="4" name="Espace réservé de la date 3">
            <a:extLst>
              <a:ext uri="{FF2B5EF4-FFF2-40B4-BE49-F238E27FC236}">
                <a16:creationId xmlns:a16="http://schemas.microsoft.com/office/drawing/2014/main" id="{39659834-9286-EA08-9608-72B63DB8A65C}"/>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93703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D6D0B3-BC90-675F-7F88-9507A6E3B3B8}"/>
              </a:ext>
            </a:extLst>
          </p:cNvPr>
          <p:cNvSpPr>
            <a:spLocks noGrp="1"/>
          </p:cNvSpPr>
          <p:nvPr>
            <p:ph type="title"/>
          </p:nvPr>
        </p:nvSpPr>
        <p:spPr/>
        <p:txBody>
          <a:bodyPr/>
          <a:lstStyle/>
          <a:p>
            <a:pPr algn="ctr"/>
            <a:r>
              <a:rPr lang="en-GB" dirty="0"/>
              <a:t>Cycle de vie de BPM</a:t>
            </a:r>
          </a:p>
        </p:txBody>
      </p:sp>
      <p:pic>
        <p:nvPicPr>
          <p:cNvPr id="6" name="Espace réservé du contenu 5">
            <a:extLst>
              <a:ext uri="{FF2B5EF4-FFF2-40B4-BE49-F238E27FC236}">
                <a16:creationId xmlns:a16="http://schemas.microsoft.com/office/drawing/2014/main" id="{E2C949C0-B583-0B3C-BB8E-91B1B4285CF7}"/>
              </a:ext>
            </a:extLst>
          </p:cNvPr>
          <p:cNvPicPr>
            <a:picLocks noGrp="1" noChangeAspect="1"/>
          </p:cNvPicPr>
          <p:nvPr>
            <p:ph idx="1"/>
          </p:nvPr>
        </p:nvPicPr>
        <p:blipFill>
          <a:blip r:embed="rId2"/>
          <a:stretch>
            <a:fillRect/>
          </a:stretch>
        </p:blipFill>
        <p:spPr>
          <a:xfrm>
            <a:off x="2458193" y="2108200"/>
            <a:ext cx="6246796" cy="4185722"/>
          </a:xfrm>
          <a:prstGeom prst="rect">
            <a:avLst/>
          </a:prstGeom>
        </p:spPr>
      </p:pic>
      <p:sp>
        <p:nvSpPr>
          <p:cNvPr id="4" name="Espace réservé de la date 3">
            <a:extLst>
              <a:ext uri="{FF2B5EF4-FFF2-40B4-BE49-F238E27FC236}">
                <a16:creationId xmlns:a16="http://schemas.microsoft.com/office/drawing/2014/main" id="{EF37B4ED-150A-C90B-1724-C3D4CCD91221}"/>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
        <p:nvSpPr>
          <p:cNvPr id="7" name="Ellipse 6">
            <a:extLst>
              <a:ext uri="{FF2B5EF4-FFF2-40B4-BE49-F238E27FC236}">
                <a16:creationId xmlns:a16="http://schemas.microsoft.com/office/drawing/2014/main" id="{E5C5E123-F765-2B75-656A-54CA043F6E5B}"/>
              </a:ext>
            </a:extLst>
          </p:cNvPr>
          <p:cNvSpPr/>
          <p:nvPr/>
        </p:nvSpPr>
        <p:spPr>
          <a:xfrm>
            <a:off x="2458192" y="3247170"/>
            <a:ext cx="2256311" cy="1223158"/>
          </a:xfrm>
          <a:prstGeom prst="ellipse">
            <a:avLst/>
          </a:prstGeom>
          <a:solidFill>
            <a:srgbClr val="4F81BD"/>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dirty="0">
                <a:latin typeface="Times New Roman" panose="02020603050405020304" pitchFamily="18" charset="0"/>
                <a:cs typeface="Times New Roman" panose="02020603050405020304" pitchFamily="18" charset="0"/>
              </a:rPr>
              <a:t>Conception</a:t>
            </a:r>
          </a:p>
        </p:txBody>
      </p:sp>
    </p:spTree>
    <p:extLst>
      <p:ext uri="{BB962C8B-B14F-4D97-AF65-F5344CB8AC3E}">
        <p14:creationId xmlns:p14="http://schemas.microsoft.com/office/powerpoint/2010/main" val="3637140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97E7E-CACD-CDB2-194F-BD3B5DE2BB7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8E1D049-4567-9BB6-6E0A-D8CD667FBEEA}"/>
              </a:ext>
            </a:extLst>
          </p:cNvPr>
          <p:cNvSpPr>
            <a:spLocks noGrp="1"/>
          </p:cNvSpPr>
          <p:nvPr>
            <p:ph type="title"/>
          </p:nvPr>
        </p:nvSpPr>
        <p:spPr/>
        <p:txBody>
          <a:bodyPr/>
          <a:lstStyle/>
          <a:p>
            <a:pPr algn="ctr"/>
            <a:r>
              <a:rPr lang="en-GB" dirty="0"/>
              <a:t>Cycle de vie de BPM</a:t>
            </a:r>
          </a:p>
        </p:txBody>
      </p:sp>
      <p:pic>
        <p:nvPicPr>
          <p:cNvPr id="6" name="Espace réservé du contenu 5">
            <a:extLst>
              <a:ext uri="{FF2B5EF4-FFF2-40B4-BE49-F238E27FC236}">
                <a16:creationId xmlns:a16="http://schemas.microsoft.com/office/drawing/2014/main" id="{2BDA1DF2-A9BA-1EEB-BC3E-2A6E58DB61D8}"/>
              </a:ext>
            </a:extLst>
          </p:cNvPr>
          <p:cNvPicPr>
            <a:picLocks noGrp="1" noChangeAspect="1"/>
          </p:cNvPicPr>
          <p:nvPr>
            <p:ph idx="1"/>
          </p:nvPr>
        </p:nvPicPr>
        <p:blipFill>
          <a:blip r:embed="rId2"/>
          <a:stretch>
            <a:fillRect/>
          </a:stretch>
        </p:blipFill>
        <p:spPr>
          <a:xfrm>
            <a:off x="2458193" y="2108200"/>
            <a:ext cx="6246796" cy="4185722"/>
          </a:xfrm>
          <a:prstGeom prst="rect">
            <a:avLst/>
          </a:prstGeom>
        </p:spPr>
      </p:pic>
      <p:sp>
        <p:nvSpPr>
          <p:cNvPr id="4" name="Espace réservé de la date 3">
            <a:extLst>
              <a:ext uri="{FF2B5EF4-FFF2-40B4-BE49-F238E27FC236}">
                <a16:creationId xmlns:a16="http://schemas.microsoft.com/office/drawing/2014/main" id="{3506D632-D775-47BC-DF6F-496A3AE62C47}"/>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
        <p:nvSpPr>
          <p:cNvPr id="7" name="Ellipse 6">
            <a:extLst>
              <a:ext uri="{FF2B5EF4-FFF2-40B4-BE49-F238E27FC236}">
                <a16:creationId xmlns:a16="http://schemas.microsoft.com/office/drawing/2014/main" id="{24EFA7F0-79E9-8E17-BC37-31018A12B888}"/>
              </a:ext>
            </a:extLst>
          </p:cNvPr>
          <p:cNvSpPr/>
          <p:nvPr/>
        </p:nvSpPr>
        <p:spPr>
          <a:xfrm>
            <a:off x="2458192" y="3247170"/>
            <a:ext cx="2256311" cy="1223158"/>
          </a:xfrm>
          <a:prstGeom prst="ellipse">
            <a:avLst/>
          </a:prstGeom>
          <a:solidFill>
            <a:srgbClr val="4F81BD"/>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dirty="0">
                <a:latin typeface="Times New Roman" panose="02020603050405020304" pitchFamily="18" charset="0"/>
                <a:cs typeface="Times New Roman" panose="02020603050405020304" pitchFamily="18" charset="0"/>
              </a:rPr>
              <a:t>Conception</a:t>
            </a:r>
          </a:p>
        </p:txBody>
      </p:sp>
      <p:sp>
        <p:nvSpPr>
          <p:cNvPr id="3" name="ZoneTexte 2">
            <a:extLst>
              <a:ext uri="{FF2B5EF4-FFF2-40B4-BE49-F238E27FC236}">
                <a16:creationId xmlns:a16="http://schemas.microsoft.com/office/drawing/2014/main" id="{A4795F04-5D94-5E82-FF42-6750D5A28D41}"/>
              </a:ext>
            </a:extLst>
          </p:cNvPr>
          <p:cNvSpPr txBox="1"/>
          <p:nvPr/>
        </p:nvSpPr>
        <p:spPr>
          <a:xfrm>
            <a:off x="1935678" y="1995055"/>
            <a:ext cx="8075221" cy="4154984"/>
          </a:xfrm>
          <a:prstGeom prst="rect">
            <a:avLst/>
          </a:prstGeom>
          <a:solidFill>
            <a:schemeClr val="bg1"/>
          </a:solidFill>
        </p:spPr>
        <p:txBody>
          <a:bodyPr wrap="square" rtlCol="0">
            <a:spAutoFit/>
          </a:bodyPr>
          <a:lstStyle/>
          <a:p>
            <a:r>
              <a:rPr lang="en-GB" sz="2400" dirty="0"/>
              <a:t>Conception :</a:t>
            </a:r>
          </a:p>
          <a:p>
            <a:r>
              <a:rPr lang="fr-FR" sz="2400" dirty="0"/>
              <a:t>Une étude doit être réalisée pour analyser les objectifs de l’entreprise, où nous allons pouvoir </a:t>
            </a:r>
            <a:r>
              <a:rPr lang="en-GB" sz="2400" dirty="0"/>
              <a:t>:</a:t>
            </a:r>
          </a:p>
          <a:p>
            <a:endParaRPr lang="en-GB" sz="2400" dirty="0"/>
          </a:p>
          <a:p>
            <a:r>
              <a:rPr lang="fr-FR" sz="2400" dirty="0"/>
              <a:t>• préciser le but du processus</a:t>
            </a:r>
          </a:p>
          <a:p>
            <a:r>
              <a:rPr lang="fr-FR" sz="2400" dirty="0"/>
              <a:t>• spécifier des détails du processus tel que les acteurs</a:t>
            </a:r>
          </a:p>
          <a:p>
            <a:r>
              <a:rPr lang="en-GB" sz="2400" dirty="0"/>
              <a:t>• identifier les </a:t>
            </a:r>
            <a:r>
              <a:rPr lang="en-GB" sz="2400" dirty="0" err="1"/>
              <a:t>activités</a:t>
            </a:r>
            <a:endParaRPr lang="en-GB" sz="2400" dirty="0"/>
          </a:p>
          <a:p>
            <a:r>
              <a:rPr lang="fr-FR" sz="2400" dirty="0"/>
              <a:t>• déterminer le rôle de chaque personne intervenant sur le processus</a:t>
            </a:r>
          </a:p>
          <a:p>
            <a:r>
              <a:rPr lang="en-GB" sz="2400" dirty="0"/>
              <a:t>• </a:t>
            </a:r>
            <a:r>
              <a:rPr lang="en-GB" sz="2400" dirty="0" err="1"/>
              <a:t>surveiller</a:t>
            </a:r>
            <a:r>
              <a:rPr lang="en-GB" sz="2400" dirty="0"/>
              <a:t> les </a:t>
            </a:r>
            <a:r>
              <a:rPr lang="en-GB" sz="2400" dirty="0" err="1"/>
              <a:t>échanges</a:t>
            </a:r>
            <a:r>
              <a:rPr lang="en-GB" sz="2400" dirty="0"/>
              <a:t> </a:t>
            </a:r>
            <a:r>
              <a:rPr lang="en-GB" sz="2400" dirty="0" err="1"/>
              <a:t>d’informations</a:t>
            </a:r>
            <a:endParaRPr lang="en-GB" sz="2400" dirty="0"/>
          </a:p>
          <a:p>
            <a:r>
              <a:rPr lang="en-GB" sz="2400" dirty="0"/>
              <a:t>• . . . etc.</a:t>
            </a:r>
          </a:p>
        </p:txBody>
      </p:sp>
    </p:spTree>
    <p:extLst>
      <p:ext uri="{BB962C8B-B14F-4D97-AF65-F5344CB8AC3E}">
        <p14:creationId xmlns:p14="http://schemas.microsoft.com/office/powerpoint/2010/main" val="3176715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81924-1A19-E664-7DA5-9814323EB21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8DCBB47-56CE-4CE4-D982-0C527B66B61C}"/>
              </a:ext>
            </a:extLst>
          </p:cNvPr>
          <p:cNvSpPr>
            <a:spLocks noGrp="1"/>
          </p:cNvSpPr>
          <p:nvPr>
            <p:ph type="title"/>
          </p:nvPr>
        </p:nvSpPr>
        <p:spPr/>
        <p:txBody>
          <a:bodyPr/>
          <a:lstStyle/>
          <a:p>
            <a:pPr algn="ctr"/>
            <a:r>
              <a:rPr lang="en-GB" dirty="0"/>
              <a:t>Cycle de vie de BPM</a:t>
            </a:r>
          </a:p>
        </p:txBody>
      </p:sp>
      <p:pic>
        <p:nvPicPr>
          <p:cNvPr id="6" name="Espace réservé du contenu 5">
            <a:extLst>
              <a:ext uri="{FF2B5EF4-FFF2-40B4-BE49-F238E27FC236}">
                <a16:creationId xmlns:a16="http://schemas.microsoft.com/office/drawing/2014/main" id="{2290698D-B98F-DFD1-4E34-571E84187D9D}"/>
              </a:ext>
            </a:extLst>
          </p:cNvPr>
          <p:cNvPicPr>
            <a:picLocks noGrp="1" noChangeAspect="1"/>
          </p:cNvPicPr>
          <p:nvPr>
            <p:ph idx="1"/>
          </p:nvPr>
        </p:nvPicPr>
        <p:blipFill>
          <a:blip r:embed="rId2"/>
          <a:stretch>
            <a:fillRect/>
          </a:stretch>
        </p:blipFill>
        <p:spPr>
          <a:xfrm>
            <a:off x="2458193" y="2108200"/>
            <a:ext cx="6246796" cy="4185722"/>
          </a:xfrm>
          <a:prstGeom prst="rect">
            <a:avLst/>
          </a:prstGeom>
        </p:spPr>
      </p:pic>
      <p:sp>
        <p:nvSpPr>
          <p:cNvPr id="4" name="Espace réservé de la date 3">
            <a:extLst>
              <a:ext uri="{FF2B5EF4-FFF2-40B4-BE49-F238E27FC236}">
                <a16:creationId xmlns:a16="http://schemas.microsoft.com/office/drawing/2014/main" id="{613A1B9A-EA1F-6C9E-38AA-EF397C7AA833}"/>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
        <p:nvSpPr>
          <p:cNvPr id="7" name="Ellipse 6">
            <a:extLst>
              <a:ext uri="{FF2B5EF4-FFF2-40B4-BE49-F238E27FC236}">
                <a16:creationId xmlns:a16="http://schemas.microsoft.com/office/drawing/2014/main" id="{42D5F93F-6F45-8D4B-323C-AD23C8FD3E6E}"/>
              </a:ext>
            </a:extLst>
          </p:cNvPr>
          <p:cNvSpPr/>
          <p:nvPr/>
        </p:nvSpPr>
        <p:spPr>
          <a:xfrm>
            <a:off x="2458192" y="3247170"/>
            <a:ext cx="2256311" cy="1223158"/>
          </a:xfrm>
          <a:prstGeom prst="ellipse">
            <a:avLst/>
          </a:prstGeom>
          <a:solidFill>
            <a:srgbClr val="4F81BD"/>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dirty="0">
                <a:latin typeface="Times New Roman" panose="02020603050405020304" pitchFamily="18" charset="0"/>
                <a:cs typeface="Times New Roman" panose="02020603050405020304" pitchFamily="18" charset="0"/>
              </a:rPr>
              <a:t>Conception</a:t>
            </a:r>
          </a:p>
        </p:txBody>
      </p:sp>
      <p:sp>
        <p:nvSpPr>
          <p:cNvPr id="3" name="ZoneTexte 2">
            <a:extLst>
              <a:ext uri="{FF2B5EF4-FFF2-40B4-BE49-F238E27FC236}">
                <a16:creationId xmlns:a16="http://schemas.microsoft.com/office/drawing/2014/main" id="{91418F79-C20E-A925-1A28-A1900F5734AD}"/>
              </a:ext>
            </a:extLst>
          </p:cNvPr>
          <p:cNvSpPr txBox="1"/>
          <p:nvPr/>
        </p:nvSpPr>
        <p:spPr>
          <a:xfrm>
            <a:off x="1935678" y="1995055"/>
            <a:ext cx="8075221" cy="4154984"/>
          </a:xfrm>
          <a:prstGeom prst="rect">
            <a:avLst/>
          </a:prstGeom>
          <a:solidFill>
            <a:schemeClr val="bg1"/>
          </a:solidFill>
        </p:spPr>
        <p:txBody>
          <a:bodyPr wrap="square" rtlCol="0">
            <a:spAutoFit/>
          </a:bodyPr>
          <a:lstStyle/>
          <a:p>
            <a:r>
              <a:rPr lang="en-GB" sz="2400" dirty="0" err="1"/>
              <a:t>Modélisation</a:t>
            </a:r>
            <a:r>
              <a:rPr lang="en-GB" sz="2400" dirty="0"/>
              <a:t> :</a:t>
            </a:r>
          </a:p>
          <a:p>
            <a:endParaRPr lang="en-GB" sz="2400" dirty="0"/>
          </a:p>
          <a:p>
            <a:r>
              <a:rPr lang="fr-FR" sz="2400" dirty="0"/>
              <a:t>Cette phase permet de représenter un modèle le plus proche possible de la réalité. Pour aboutir à ce point nous allons:</a:t>
            </a:r>
          </a:p>
          <a:p>
            <a:r>
              <a:rPr lang="fr-FR" sz="2400" dirty="0"/>
              <a:t>• appliquer généralement des langages graphiques comme UML, BPMN au processus indépendamment </a:t>
            </a:r>
            <a:r>
              <a:rPr lang="en-GB" sz="2400" dirty="0"/>
              <a:t>des aspects techniques.</a:t>
            </a:r>
          </a:p>
          <a:p>
            <a:r>
              <a:rPr lang="fr-FR" sz="2400" dirty="0"/>
              <a:t>• transformer un modèle de processus métier ou "Business Process Diagram" en un modèle </a:t>
            </a:r>
            <a:r>
              <a:rPr lang="en-GB" sz="2400" dirty="0"/>
              <a:t>de processus </a:t>
            </a:r>
            <a:r>
              <a:rPr lang="en-GB" sz="2400" dirty="0" err="1"/>
              <a:t>exécutable</a:t>
            </a:r>
            <a:r>
              <a:rPr lang="en-GB" sz="2400" dirty="0"/>
              <a:t>.</a:t>
            </a:r>
          </a:p>
          <a:p>
            <a:r>
              <a:rPr lang="fr-FR" sz="2400" dirty="0"/>
              <a:t>• simuler le processus et penser aux cas anormaux avant de l’adapter.</a:t>
            </a:r>
            <a:endParaRPr lang="en-GB" sz="2400" dirty="0"/>
          </a:p>
        </p:txBody>
      </p:sp>
    </p:spTree>
    <p:extLst>
      <p:ext uri="{BB962C8B-B14F-4D97-AF65-F5344CB8AC3E}">
        <p14:creationId xmlns:p14="http://schemas.microsoft.com/office/powerpoint/2010/main" val="2038733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BB79A-C1D4-8743-0AF2-D3FB5FCBB0E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BA3137D-4A55-76D9-3816-1D11FBFEA0C2}"/>
              </a:ext>
            </a:extLst>
          </p:cNvPr>
          <p:cNvSpPr>
            <a:spLocks noGrp="1"/>
          </p:cNvSpPr>
          <p:nvPr>
            <p:ph type="title"/>
          </p:nvPr>
        </p:nvSpPr>
        <p:spPr/>
        <p:txBody>
          <a:bodyPr/>
          <a:lstStyle/>
          <a:p>
            <a:pPr algn="ctr"/>
            <a:r>
              <a:rPr lang="en-GB" dirty="0"/>
              <a:t>Cycle de vie de BPM</a:t>
            </a:r>
          </a:p>
        </p:txBody>
      </p:sp>
      <p:pic>
        <p:nvPicPr>
          <p:cNvPr id="6" name="Espace réservé du contenu 5">
            <a:extLst>
              <a:ext uri="{FF2B5EF4-FFF2-40B4-BE49-F238E27FC236}">
                <a16:creationId xmlns:a16="http://schemas.microsoft.com/office/drawing/2014/main" id="{1F51AC54-02DF-138E-7D13-69D347DC4656}"/>
              </a:ext>
            </a:extLst>
          </p:cNvPr>
          <p:cNvPicPr>
            <a:picLocks noGrp="1" noChangeAspect="1"/>
          </p:cNvPicPr>
          <p:nvPr>
            <p:ph idx="1"/>
          </p:nvPr>
        </p:nvPicPr>
        <p:blipFill>
          <a:blip r:embed="rId2"/>
          <a:stretch>
            <a:fillRect/>
          </a:stretch>
        </p:blipFill>
        <p:spPr>
          <a:xfrm>
            <a:off x="2458193" y="2108200"/>
            <a:ext cx="6246796" cy="4185722"/>
          </a:xfrm>
          <a:prstGeom prst="rect">
            <a:avLst/>
          </a:prstGeom>
        </p:spPr>
      </p:pic>
      <p:sp>
        <p:nvSpPr>
          <p:cNvPr id="4" name="Espace réservé de la date 3">
            <a:extLst>
              <a:ext uri="{FF2B5EF4-FFF2-40B4-BE49-F238E27FC236}">
                <a16:creationId xmlns:a16="http://schemas.microsoft.com/office/drawing/2014/main" id="{D6D050FC-F825-1550-0123-D43E47EC6057}"/>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
        <p:nvSpPr>
          <p:cNvPr id="7" name="Ellipse 6">
            <a:extLst>
              <a:ext uri="{FF2B5EF4-FFF2-40B4-BE49-F238E27FC236}">
                <a16:creationId xmlns:a16="http://schemas.microsoft.com/office/drawing/2014/main" id="{D1C2A201-31AA-6B0F-A9E7-8191330BD421}"/>
              </a:ext>
            </a:extLst>
          </p:cNvPr>
          <p:cNvSpPr/>
          <p:nvPr/>
        </p:nvSpPr>
        <p:spPr>
          <a:xfrm>
            <a:off x="2458192" y="3247170"/>
            <a:ext cx="2256311" cy="1223158"/>
          </a:xfrm>
          <a:prstGeom prst="ellipse">
            <a:avLst/>
          </a:prstGeom>
          <a:solidFill>
            <a:srgbClr val="4F81BD"/>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dirty="0">
                <a:latin typeface="Times New Roman" panose="02020603050405020304" pitchFamily="18" charset="0"/>
                <a:cs typeface="Times New Roman" panose="02020603050405020304" pitchFamily="18" charset="0"/>
              </a:rPr>
              <a:t>Conception</a:t>
            </a:r>
          </a:p>
        </p:txBody>
      </p:sp>
      <p:sp>
        <p:nvSpPr>
          <p:cNvPr id="3" name="ZoneTexte 2">
            <a:extLst>
              <a:ext uri="{FF2B5EF4-FFF2-40B4-BE49-F238E27FC236}">
                <a16:creationId xmlns:a16="http://schemas.microsoft.com/office/drawing/2014/main" id="{07EB20F6-5CE3-D6CA-BEBD-90FF46E85DE2}"/>
              </a:ext>
            </a:extLst>
          </p:cNvPr>
          <p:cNvSpPr txBox="1"/>
          <p:nvPr/>
        </p:nvSpPr>
        <p:spPr>
          <a:xfrm>
            <a:off x="653143" y="2442985"/>
            <a:ext cx="11055927" cy="2677656"/>
          </a:xfrm>
          <a:prstGeom prst="rect">
            <a:avLst/>
          </a:prstGeom>
          <a:solidFill>
            <a:schemeClr val="bg1"/>
          </a:solidFill>
        </p:spPr>
        <p:txBody>
          <a:bodyPr wrap="square" rtlCol="0">
            <a:spAutoFit/>
          </a:bodyPr>
          <a:lstStyle/>
          <a:p>
            <a:r>
              <a:rPr lang="en-GB" sz="2800" dirty="0" err="1"/>
              <a:t>Exécution</a:t>
            </a:r>
            <a:r>
              <a:rPr lang="en-GB" sz="2800" dirty="0"/>
              <a:t> :</a:t>
            </a:r>
          </a:p>
          <a:p>
            <a:endParaRPr lang="en-GB" sz="2800" dirty="0"/>
          </a:p>
          <a:p>
            <a:r>
              <a:rPr lang="fr-FR" sz="2800" dirty="0"/>
              <a:t>Il s’agit de la phase opérationnelle où la solution de BPM est mise en œuvre. En effet, durant cette phase, le processus exécutable est interprété par un moteur d’exécution appelé BPE «</a:t>
            </a:r>
            <a:r>
              <a:rPr lang="en-GB" sz="2800" dirty="0"/>
              <a:t>Business Process Engine ».</a:t>
            </a:r>
          </a:p>
        </p:txBody>
      </p:sp>
    </p:spTree>
    <p:extLst>
      <p:ext uri="{BB962C8B-B14F-4D97-AF65-F5344CB8AC3E}">
        <p14:creationId xmlns:p14="http://schemas.microsoft.com/office/powerpoint/2010/main" val="2100766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5160B-8D8B-8F90-C139-B31061C1DF2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EE053D4-4C2C-9424-9126-602CF9091C3F}"/>
              </a:ext>
            </a:extLst>
          </p:cNvPr>
          <p:cNvSpPr>
            <a:spLocks noGrp="1"/>
          </p:cNvSpPr>
          <p:nvPr>
            <p:ph type="title"/>
          </p:nvPr>
        </p:nvSpPr>
        <p:spPr/>
        <p:txBody>
          <a:bodyPr/>
          <a:lstStyle/>
          <a:p>
            <a:pPr algn="ctr"/>
            <a:r>
              <a:rPr lang="en-GB" dirty="0"/>
              <a:t>Cycle de vie de BPM</a:t>
            </a:r>
          </a:p>
        </p:txBody>
      </p:sp>
      <p:pic>
        <p:nvPicPr>
          <p:cNvPr id="6" name="Espace réservé du contenu 5">
            <a:extLst>
              <a:ext uri="{FF2B5EF4-FFF2-40B4-BE49-F238E27FC236}">
                <a16:creationId xmlns:a16="http://schemas.microsoft.com/office/drawing/2014/main" id="{E7AFA5FF-BA81-946D-6FA9-23777E97A72F}"/>
              </a:ext>
            </a:extLst>
          </p:cNvPr>
          <p:cNvPicPr>
            <a:picLocks noGrp="1" noChangeAspect="1"/>
          </p:cNvPicPr>
          <p:nvPr>
            <p:ph idx="1"/>
          </p:nvPr>
        </p:nvPicPr>
        <p:blipFill>
          <a:blip r:embed="rId2"/>
          <a:stretch>
            <a:fillRect/>
          </a:stretch>
        </p:blipFill>
        <p:spPr>
          <a:xfrm>
            <a:off x="2458193" y="2108200"/>
            <a:ext cx="6246796" cy="4185722"/>
          </a:xfrm>
          <a:prstGeom prst="rect">
            <a:avLst/>
          </a:prstGeom>
        </p:spPr>
      </p:pic>
      <p:sp>
        <p:nvSpPr>
          <p:cNvPr id="4" name="Espace réservé de la date 3">
            <a:extLst>
              <a:ext uri="{FF2B5EF4-FFF2-40B4-BE49-F238E27FC236}">
                <a16:creationId xmlns:a16="http://schemas.microsoft.com/office/drawing/2014/main" id="{900B7EFD-27C4-4704-1C81-ECC82C76836D}"/>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
        <p:nvSpPr>
          <p:cNvPr id="7" name="Ellipse 6">
            <a:extLst>
              <a:ext uri="{FF2B5EF4-FFF2-40B4-BE49-F238E27FC236}">
                <a16:creationId xmlns:a16="http://schemas.microsoft.com/office/drawing/2014/main" id="{6CEA0422-A36D-330C-CD24-14C471B66189}"/>
              </a:ext>
            </a:extLst>
          </p:cNvPr>
          <p:cNvSpPr/>
          <p:nvPr/>
        </p:nvSpPr>
        <p:spPr>
          <a:xfrm>
            <a:off x="2458192" y="3247170"/>
            <a:ext cx="2256311" cy="1223158"/>
          </a:xfrm>
          <a:prstGeom prst="ellipse">
            <a:avLst/>
          </a:prstGeom>
          <a:solidFill>
            <a:srgbClr val="4F81BD"/>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dirty="0">
                <a:latin typeface="Times New Roman" panose="02020603050405020304" pitchFamily="18" charset="0"/>
                <a:cs typeface="Times New Roman" panose="02020603050405020304" pitchFamily="18" charset="0"/>
              </a:rPr>
              <a:t>Conception</a:t>
            </a:r>
          </a:p>
        </p:txBody>
      </p:sp>
      <p:sp>
        <p:nvSpPr>
          <p:cNvPr id="3" name="ZoneTexte 2">
            <a:extLst>
              <a:ext uri="{FF2B5EF4-FFF2-40B4-BE49-F238E27FC236}">
                <a16:creationId xmlns:a16="http://schemas.microsoft.com/office/drawing/2014/main" id="{F68EA421-EF19-D50B-DC3F-653F69E911FB}"/>
              </a:ext>
            </a:extLst>
          </p:cNvPr>
          <p:cNvSpPr txBox="1"/>
          <p:nvPr/>
        </p:nvSpPr>
        <p:spPr>
          <a:xfrm>
            <a:off x="665018" y="2735364"/>
            <a:ext cx="10652166" cy="2246769"/>
          </a:xfrm>
          <a:prstGeom prst="rect">
            <a:avLst/>
          </a:prstGeom>
          <a:solidFill>
            <a:schemeClr val="bg1"/>
          </a:solidFill>
        </p:spPr>
        <p:txBody>
          <a:bodyPr wrap="square" rtlCol="0">
            <a:spAutoFit/>
          </a:bodyPr>
          <a:lstStyle/>
          <a:p>
            <a:r>
              <a:rPr lang="en-GB" sz="2800" dirty="0"/>
              <a:t>Pilotage :</a:t>
            </a:r>
          </a:p>
          <a:p>
            <a:r>
              <a:rPr lang="fr-FR" sz="2800" dirty="0"/>
              <a:t>Cette phase mesure les indicateurs de performances définit et la performance du processus.</a:t>
            </a:r>
          </a:p>
          <a:p>
            <a:r>
              <a:rPr lang="fr-FR" sz="2800" dirty="0"/>
              <a:t>Des rapports sont générés puis analysés et comparés avec les contrats de services.</a:t>
            </a:r>
            <a:endParaRPr lang="en-GB" sz="2800" dirty="0"/>
          </a:p>
        </p:txBody>
      </p:sp>
    </p:spTree>
    <p:extLst>
      <p:ext uri="{BB962C8B-B14F-4D97-AF65-F5344CB8AC3E}">
        <p14:creationId xmlns:p14="http://schemas.microsoft.com/office/powerpoint/2010/main" val="3171481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DE92D-89E8-48BD-0339-37FD1A4027A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5469AC2-1791-3C9B-DDDE-BDC309C07860}"/>
              </a:ext>
            </a:extLst>
          </p:cNvPr>
          <p:cNvSpPr>
            <a:spLocks noGrp="1"/>
          </p:cNvSpPr>
          <p:nvPr>
            <p:ph type="title"/>
          </p:nvPr>
        </p:nvSpPr>
        <p:spPr/>
        <p:txBody>
          <a:bodyPr/>
          <a:lstStyle/>
          <a:p>
            <a:pPr algn="ctr"/>
            <a:r>
              <a:rPr lang="en-GB" dirty="0"/>
              <a:t>Cycle de vie de BPM</a:t>
            </a:r>
          </a:p>
        </p:txBody>
      </p:sp>
      <p:pic>
        <p:nvPicPr>
          <p:cNvPr id="6" name="Espace réservé du contenu 5">
            <a:extLst>
              <a:ext uri="{FF2B5EF4-FFF2-40B4-BE49-F238E27FC236}">
                <a16:creationId xmlns:a16="http://schemas.microsoft.com/office/drawing/2014/main" id="{951F4F91-B2C6-BBF4-72AE-CF2F21D6C4A8}"/>
              </a:ext>
            </a:extLst>
          </p:cNvPr>
          <p:cNvPicPr>
            <a:picLocks noGrp="1" noChangeAspect="1"/>
          </p:cNvPicPr>
          <p:nvPr>
            <p:ph idx="1"/>
          </p:nvPr>
        </p:nvPicPr>
        <p:blipFill>
          <a:blip r:embed="rId2"/>
          <a:stretch>
            <a:fillRect/>
          </a:stretch>
        </p:blipFill>
        <p:spPr>
          <a:xfrm>
            <a:off x="2458193" y="2108200"/>
            <a:ext cx="6246796" cy="4185722"/>
          </a:xfrm>
          <a:prstGeom prst="rect">
            <a:avLst/>
          </a:prstGeom>
        </p:spPr>
      </p:pic>
      <p:sp>
        <p:nvSpPr>
          <p:cNvPr id="4" name="Espace réservé de la date 3">
            <a:extLst>
              <a:ext uri="{FF2B5EF4-FFF2-40B4-BE49-F238E27FC236}">
                <a16:creationId xmlns:a16="http://schemas.microsoft.com/office/drawing/2014/main" id="{CB6256B5-DD5D-5209-A21D-DA2284397E68}"/>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
        <p:nvSpPr>
          <p:cNvPr id="7" name="Ellipse 6">
            <a:extLst>
              <a:ext uri="{FF2B5EF4-FFF2-40B4-BE49-F238E27FC236}">
                <a16:creationId xmlns:a16="http://schemas.microsoft.com/office/drawing/2014/main" id="{06459A9D-22F2-B937-3C70-4C6F6A05FEDA}"/>
              </a:ext>
            </a:extLst>
          </p:cNvPr>
          <p:cNvSpPr/>
          <p:nvPr/>
        </p:nvSpPr>
        <p:spPr>
          <a:xfrm>
            <a:off x="2458192" y="3247170"/>
            <a:ext cx="2256311" cy="1223158"/>
          </a:xfrm>
          <a:prstGeom prst="ellipse">
            <a:avLst/>
          </a:prstGeom>
          <a:solidFill>
            <a:srgbClr val="4F81BD"/>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dirty="0">
                <a:latin typeface="Times New Roman" panose="02020603050405020304" pitchFamily="18" charset="0"/>
                <a:cs typeface="Times New Roman" panose="02020603050405020304" pitchFamily="18" charset="0"/>
              </a:rPr>
              <a:t>Conception</a:t>
            </a:r>
          </a:p>
        </p:txBody>
      </p:sp>
      <p:sp>
        <p:nvSpPr>
          <p:cNvPr id="3" name="ZoneTexte 2">
            <a:extLst>
              <a:ext uri="{FF2B5EF4-FFF2-40B4-BE49-F238E27FC236}">
                <a16:creationId xmlns:a16="http://schemas.microsoft.com/office/drawing/2014/main" id="{05C2C493-7BA8-7A21-1A3A-806370F36F69}"/>
              </a:ext>
            </a:extLst>
          </p:cNvPr>
          <p:cNvSpPr txBox="1"/>
          <p:nvPr/>
        </p:nvSpPr>
        <p:spPr>
          <a:xfrm>
            <a:off x="938151" y="2442985"/>
            <a:ext cx="11455729" cy="1815882"/>
          </a:xfrm>
          <a:prstGeom prst="rect">
            <a:avLst/>
          </a:prstGeom>
          <a:solidFill>
            <a:schemeClr val="bg1"/>
          </a:solidFill>
        </p:spPr>
        <p:txBody>
          <a:bodyPr wrap="square" rtlCol="0">
            <a:spAutoFit/>
          </a:bodyPr>
          <a:lstStyle/>
          <a:p>
            <a:r>
              <a:rPr lang="en-GB" sz="2800" dirty="0"/>
              <a:t>Optimisation :</a:t>
            </a:r>
          </a:p>
          <a:p>
            <a:r>
              <a:rPr lang="fr-FR" sz="2800" dirty="0"/>
              <a:t>Cette dernière phase propose des solutions pour améliorer les performances des processus métiers en réduisent les coûts, optimiser l’efficacité, augmenter la performance, éviter la </a:t>
            </a:r>
            <a:r>
              <a:rPr lang="en-GB" sz="2800" dirty="0" err="1"/>
              <a:t>redondance</a:t>
            </a:r>
            <a:r>
              <a:rPr lang="en-GB" sz="2800" dirty="0"/>
              <a:t>, etc.</a:t>
            </a:r>
          </a:p>
        </p:txBody>
      </p:sp>
    </p:spTree>
    <p:extLst>
      <p:ext uri="{BB962C8B-B14F-4D97-AF65-F5344CB8AC3E}">
        <p14:creationId xmlns:p14="http://schemas.microsoft.com/office/powerpoint/2010/main" val="2783889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03FF36-BCC7-0E6F-0C5C-FEAA5248022C}"/>
              </a:ext>
            </a:extLst>
          </p:cNvPr>
          <p:cNvSpPr>
            <a:spLocks noGrp="1"/>
          </p:cNvSpPr>
          <p:nvPr>
            <p:ph type="title"/>
          </p:nvPr>
        </p:nvSpPr>
        <p:spPr>
          <a:xfrm>
            <a:off x="1097280" y="367990"/>
            <a:ext cx="10058400" cy="771965"/>
          </a:xfrm>
        </p:spPr>
        <p:txBody>
          <a:bodyPr/>
          <a:lstStyle/>
          <a:p>
            <a:r>
              <a:rPr lang="en-GB" dirty="0"/>
              <a:t>Workflow</a:t>
            </a:r>
          </a:p>
        </p:txBody>
      </p:sp>
      <p:sp>
        <p:nvSpPr>
          <p:cNvPr id="4" name="Espace réservé de la date 3">
            <a:extLst>
              <a:ext uri="{FF2B5EF4-FFF2-40B4-BE49-F238E27FC236}">
                <a16:creationId xmlns:a16="http://schemas.microsoft.com/office/drawing/2014/main" id="{4792E0EA-9B16-558E-ACB5-340F42CA5C09}"/>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
        <p:nvSpPr>
          <p:cNvPr id="6" name="Espace réservé du contenu 5">
            <a:extLst>
              <a:ext uri="{FF2B5EF4-FFF2-40B4-BE49-F238E27FC236}">
                <a16:creationId xmlns:a16="http://schemas.microsoft.com/office/drawing/2014/main" id="{3B823E3E-7C91-FA64-FB50-0505C846FA05}"/>
              </a:ext>
            </a:extLst>
          </p:cNvPr>
          <p:cNvSpPr>
            <a:spLocks noGrp="1"/>
          </p:cNvSpPr>
          <p:nvPr>
            <p:ph idx="1"/>
          </p:nvPr>
        </p:nvSpPr>
        <p:spPr/>
        <p:txBody>
          <a:bodyPr>
            <a:noAutofit/>
          </a:bodyPr>
          <a:lstStyle/>
          <a:p>
            <a:r>
              <a:rPr lang="fr-FR" sz="2800" dirty="0"/>
              <a:t>La notion de Workflow ou « flux de travail en français » est apparue au début des années 90 dans le cadre des recherches sur les outils logiciels facilitant le travail collaboratif, en 1999 le Workflow était défini par le Management Coalition WFMC comme l’automatisation partielle ou entière d’un processus métier. Dans lesquelles les documents, les informations ou les tâches sont transmises d’un participant à un autre en fonction d’un ensemble de règles de </a:t>
            </a:r>
            <a:r>
              <a:rPr lang="en-GB" sz="2800" dirty="0"/>
              <a:t>gestion </a:t>
            </a:r>
            <a:r>
              <a:rPr lang="en-GB" sz="2800" dirty="0" err="1"/>
              <a:t>prédéfinies</a:t>
            </a:r>
            <a:r>
              <a:rPr lang="en-GB" sz="2800" dirty="0"/>
              <a:t>.</a:t>
            </a:r>
          </a:p>
        </p:txBody>
      </p:sp>
    </p:spTree>
    <p:extLst>
      <p:ext uri="{BB962C8B-B14F-4D97-AF65-F5344CB8AC3E}">
        <p14:creationId xmlns:p14="http://schemas.microsoft.com/office/powerpoint/2010/main" val="4128881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8C46D-A3D7-F7E8-DFAD-885DA7628A4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59737BB-39C8-8069-AD34-9EEB3C64B3E5}"/>
              </a:ext>
            </a:extLst>
          </p:cNvPr>
          <p:cNvSpPr>
            <a:spLocks noGrp="1"/>
          </p:cNvSpPr>
          <p:nvPr>
            <p:ph type="title"/>
          </p:nvPr>
        </p:nvSpPr>
        <p:spPr>
          <a:xfrm>
            <a:off x="1097280" y="988908"/>
            <a:ext cx="10058400" cy="771965"/>
          </a:xfrm>
        </p:spPr>
        <p:txBody>
          <a:bodyPr>
            <a:normAutofit fontScale="90000"/>
          </a:bodyPr>
          <a:lstStyle/>
          <a:p>
            <a:r>
              <a:rPr lang="en-GB" dirty="0" err="1"/>
              <a:t>Différence</a:t>
            </a:r>
            <a:r>
              <a:rPr lang="en-GB" dirty="0"/>
              <a:t> entre processus </a:t>
            </a:r>
            <a:r>
              <a:rPr lang="en-GB" dirty="0" err="1"/>
              <a:t>métier</a:t>
            </a:r>
            <a:r>
              <a:rPr lang="en-GB" dirty="0"/>
              <a:t> et workflow</a:t>
            </a:r>
          </a:p>
        </p:txBody>
      </p:sp>
      <p:sp>
        <p:nvSpPr>
          <p:cNvPr id="4" name="Espace réservé de la date 3">
            <a:extLst>
              <a:ext uri="{FF2B5EF4-FFF2-40B4-BE49-F238E27FC236}">
                <a16:creationId xmlns:a16="http://schemas.microsoft.com/office/drawing/2014/main" id="{DF088FB8-32CB-DD17-45DD-40A5ADE0921A}"/>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
        <p:nvSpPr>
          <p:cNvPr id="6" name="Espace réservé du contenu 5">
            <a:extLst>
              <a:ext uri="{FF2B5EF4-FFF2-40B4-BE49-F238E27FC236}">
                <a16:creationId xmlns:a16="http://schemas.microsoft.com/office/drawing/2014/main" id="{46F94890-B9FC-D3A4-24A2-611488F096A5}"/>
              </a:ext>
            </a:extLst>
          </p:cNvPr>
          <p:cNvSpPr>
            <a:spLocks noGrp="1"/>
          </p:cNvSpPr>
          <p:nvPr>
            <p:ph idx="1"/>
          </p:nvPr>
        </p:nvSpPr>
        <p:spPr/>
        <p:txBody>
          <a:bodyPr>
            <a:normAutofit/>
          </a:bodyPr>
          <a:lstStyle/>
          <a:p>
            <a:r>
              <a:rPr lang="fr-FR" sz="2400" dirty="0"/>
              <a:t>Le processus métier et le workflow sont souvent confondus. Cependant, ils représentent </a:t>
            </a:r>
            <a:r>
              <a:rPr lang="fr-FR" sz="2400" b="1" dirty="0"/>
              <a:t>deux concepts différents</a:t>
            </a:r>
            <a:r>
              <a:rPr lang="fr-FR" sz="2400" dirty="0"/>
              <a:t> :</a:t>
            </a:r>
          </a:p>
          <a:p>
            <a:pPr>
              <a:buClr>
                <a:schemeClr val="tx1"/>
              </a:buClr>
              <a:buFont typeface="Arial" panose="020B0604020202020204" pitchFamily="34" charset="0"/>
              <a:buChar char="•"/>
            </a:pPr>
            <a:r>
              <a:rPr lang="fr-FR" sz="2400" dirty="0"/>
              <a:t>     Le processus métier décrit le fonctionnement global </a:t>
            </a:r>
          </a:p>
          <a:p>
            <a:pPr>
              <a:buClr>
                <a:schemeClr val="tx1"/>
              </a:buClr>
              <a:buFont typeface="Arial" panose="020B0604020202020204" pitchFamily="34" charset="0"/>
              <a:buChar char="•"/>
            </a:pPr>
            <a:r>
              <a:rPr lang="fr-FR" sz="2400" dirty="0"/>
              <a:t>     Le workflow décrit l’exécution des tâches</a:t>
            </a:r>
          </a:p>
        </p:txBody>
      </p:sp>
    </p:spTree>
    <p:extLst>
      <p:ext uri="{BB962C8B-B14F-4D97-AF65-F5344CB8AC3E}">
        <p14:creationId xmlns:p14="http://schemas.microsoft.com/office/powerpoint/2010/main" val="33869750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BF87A-6AF4-B487-60EE-DED0187EBBE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35EB0D3-9BF5-D7E9-4BAD-636E438D7601}"/>
              </a:ext>
            </a:extLst>
          </p:cNvPr>
          <p:cNvSpPr>
            <a:spLocks noGrp="1"/>
          </p:cNvSpPr>
          <p:nvPr>
            <p:ph type="title"/>
          </p:nvPr>
        </p:nvSpPr>
        <p:spPr>
          <a:xfrm>
            <a:off x="1097280" y="988908"/>
            <a:ext cx="10058400" cy="771965"/>
          </a:xfrm>
        </p:spPr>
        <p:txBody>
          <a:bodyPr>
            <a:normAutofit fontScale="90000"/>
          </a:bodyPr>
          <a:lstStyle/>
          <a:p>
            <a:r>
              <a:rPr lang="en-GB" dirty="0" err="1"/>
              <a:t>Différence</a:t>
            </a:r>
            <a:r>
              <a:rPr lang="en-GB" dirty="0"/>
              <a:t> entre processus </a:t>
            </a:r>
            <a:r>
              <a:rPr lang="en-GB" dirty="0" err="1"/>
              <a:t>métier</a:t>
            </a:r>
            <a:r>
              <a:rPr lang="en-GB" dirty="0"/>
              <a:t> et workflow</a:t>
            </a:r>
          </a:p>
        </p:txBody>
      </p:sp>
      <p:sp>
        <p:nvSpPr>
          <p:cNvPr id="4" name="Espace réservé de la date 3">
            <a:extLst>
              <a:ext uri="{FF2B5EF4-FFF2-40B4-BE49-F238E27FC236}">
                <a16:creationId xmlns:a16="http://schemas.microsoft.com/office/drawing/2014/main" id="{28A1D52C-82BC-C0FA-A3F5-F5B753DA473E}"/>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
        <p:nvSpPr>
          <p:cNvPr id="6" name="Espace réservé du contenu 5">
            <a:extLst>
              <a:ext uri="{FF2B5EF4-FFF2-40B4-BE49-F238E27FC236}">
                <a16:creationId xmlns:a16="http://schemas.microsoft.com/office/drawing/2014/main" id="{109EFE29-3C8C-A73A-E8D5-18AAD6729404}"/>
              </a:ext>
            </a:extLst>
          </p:cNvPr>
          <p:cNvSpPr>
            <a:spLocks noGrp="1"/>
          </p:cNvSpPr>
          <p:nvPr>
            <p:ph idx="1"/>
          </p:nvPr>
        </p:nvSpPr>
        <p:spPr>
          <a:xfrm>
            <a:off x="308758" y="1852531"/>
            <a:ext cx="10846922" cy="4509298"/>
          </a:xfrm>
        </p:spPr>
        <p:txBody>
          <a:bodyPr>
            <a:normAutofit lnSpcReduction="10000"/>
          </a:bodyPr>
          <a:lstStyle/>
          <a:p>
            <a:r>
              <a:rPr lang="fr-FR" sz="2400" dirty="0"/>
              <a:t>Le </a:t>
            </a:r>
            <a:r>
              <a:rPr lang="fr-FR" sz="2400" b="1" dirty="0"/>
              <a:t>processus métier (Business Process)</a:t>
            </a:r>
            <a:r>
              <a:rPr lang="fr-FR" sz="2400" dirty="0"/>
              <a:t> représente :</a:t>
            </a:r>
          </a:p>
          <a:p>
            <a:pPr>
              <a:buClr>
                <a:schemeClr val="tx1">
                  <a:lumMod val="85000"/>
                  <a:lumOff val="15000"/>
                </a:schemeClr>
              </a:buClr>
              <a:buFont typeface="Arial" panose="020B0604020202020204" pitchFamily="34" charset="0"/>
              <a:buChar char="•"/>
            </a:pPr>
            <a:r>
              <a:rPr lang="fr-FR" sz="2400" dirty="0"/>
              <a:t>    Les activités de l’entreprise </a:t>
            </a:r>
          </a:p>
          <a:p>
            <a:pPr>
              <a:buClr>
                <a:schemeClr val="tx1">
                  <a:lumMod val="85000"/>
                  <a:lumOff val="15000"/>
                </a:schemeClr>
              </a:buClr>
              <a:buFont typeface="Arial" panose="020B0604020202020204" pitchFamily="34" charset="0"/>
              <a:buChar char="•"/>
            </a:pPr>
            <a:r>
              <a:rPr lang="fr-FR" sz="2400" dirty="0"/>
              <a:t>    Les rôles des acteurs </a:t>
            </a:r>
          </a:p>
          <a:p>
            <a:pPr>
              <a:buClr>
                <a:schemeClr val="tx1">
                  <a:lumMod val="85000"/>
                  <a:lumOff val="15000"/>
                </a:schemeClr>
              </a:buClr>
              <a:buFont typeface="Arial" panose="020B0604020202020204" pitchFamily="34" charset="0"/>
              <a:buChar char="•"/>
            </a:pPr>
            <a:r>
              <a:rPr lang="fr-FR" sz="2400" dirty="0"/>
              <a:t>    Les règles métier </a:t>
            </a:r>
          </a:p>
          <a:p>
            <a:pPr marL="0" indent="0" fontAlgn="base">
              <a:buClr>
                <a:schemeClr val="tx1">
                  <a:lumMod val="85000"/>
                  <a:lumOff val="15000"/>
                </a:schemeClr>
              </a:buClr>
              <a:buNone/>
            </a:pPr>
            <a:r>
              <a:rPr lang="fr-FR" sz="2400" dirty="0"/>
              <a:t>Il décrit </a:t>
            </a:r>
            <a:r>
              <a:rPr lang="fr-FR" sz="2400" b="1" dirty="0"/>
              <a:t>le métier de l’organisation. Il permet de  :</a:t>
            </a:r>
          </a:p>
          <a:p>
            <a:pPr fontAlgn="base">
              <a:buClr>
                <a:schemeClr val="tx1">
                  <a:lumMod val="85000"/>
                  <a:lumOff val="15000"/>
                </a:schemeClr>
              </a:buClr>
              <a:buFont typeface="Arial" panose="020B0604020202020204" pitchFamily="34" charset="0"/>
              <a:buChar char="•"/>
            </a:pPr>
            <a:r>
              <a:rPr lang="fr-FR" altLang="fr-FR" sz="2400" dirty="0"/>
              <a:t>  comprendre le fonctionnement global </a:t>
            </a:r>
          </a:p>
          <a:p>
            <a:pPr fontAlgn="base">
              <a:buClr>
                <a:schemeClr val="tx1">
                  <a:lumMod val="85000"/>
                  <a:lumOff val="15000"/>
                </a:schemeClr>
              </a:buClr>
              <a:buFont typeface="Arial" panose="020B0604020202020204" pitchFamily="34" charset="0"/>
              <a:buChar char="•"/>
            </a:pPr>
            <a:r>
              <a:rPr lang="fr-FR" altLang="fr-FR" sz="2400" dirty="0"/>
              <a:t>   structurer les activités </a:t>
            </a:r>
          </a:p>
          <a:p>
            <a:pPr fontAlgn="base">
              <a:buClr>
                <a:schemeClr val="tx1">
                  <a:lumMod val="85000"/>
                  <a:lumOff val="15000"/>
                </a:schemeClr>
              </a:buClr>
              <a:buFont typeface="Arial" panose="020B0604020202020204" pitchFamily="34" charset="0"/>
              <a:buChar char="•"/>
            </a:pPr>
            <a:r>
              <a:rPr lang="fr-FR" altLang="fr-FR" sz="2400" dirty="0"/>
              <a:t>   définir la valeur produite </a:t>
            </a:r>
          </a:p>
          <a:p>
            <a:endParaRPr lang="fr-FR" sz="2400" dirty="0"/>
          </a:p>
        </p:txBody>
      </p:sp>
      <p:sp>
        <p:nvSpPr>
          <p:cNvPr id="7" name="ZoneTexte 6">
            <a:extLst>
              <a:ext uri="{FF2B5EF4-FFF2-40B4-BE49-F238E27FC236}">
                <a16:creationId xmlns:a16="http://schemas.microsoft.com/office/drawing/2014/main" id="{5A2678C2-502A-E1E9-B778-DCF8B3E67AC9}"/>
              </a:ext>
            </a:extLst>
          </p:cNvPr>
          <p:cNvSpPr txBox="1"/>
          <p:nvPr/>
        </p:nvSpPr>
        <p:spPr>
          <a:xfrm>
            <a:off x="7197136" y="2788804"/>
            <a:ext cx="4944093" cy="2308324"/>
          </a:xfrm>
          <a:prstGeom prst="rect">
            <a:avLst/>
          </a:prstGeom>
          <a:noFill/>
        </p:spPr>
        <p:txBody>
          <a:bodyPr wrap="square" rtlCol="0">
            <a:spAutoFit/>
          </a:bodyPr>
          <a:lstStyle/>
          <a:p>
            <a:r>
              <a:rPr lang="fr-FR" sz="2400" dirty="0"/>
              <a:t>Exemples :</a:t>
            </a:r>
          </a:p>
          <a:p>
            <a:r>
              <a:rPr lang="fr-FR" sz="2400" dirty="0"/>
              <a:t>gestion des inscriptions </a:t>
            </a:r>
          </a:p>
          <a:p>
            <a:r>
              <a:rPr lang="fr-FR" sz="2400" dirty="0"/>
              <a:t>gestion des examens </a:t>
            </a:r>
          </a:p>
          <a:p>
            <a:r>
              <a:rPr lang="fr-FR" sz="2400" dirty="0"/>
              <a:t>réservation des salles </a:t>
            </a:r>
          </a:p>
          <a:p>
            <a:r>
              <a:rPr lang="fr-FR" sz="2400" dirty="0"/>
              <a:t>-&gt; Indépendant de toute technologie</a:t>
            </a:r>
          </a:p>
          <a:p>
            <a:endParaRPr lang="en-GB" sz="2400" dirty="0"/>
          </a:p>
        </p:txBody>
      </p:sp>
    </p:spTree>
    <p:extLst>
      <p:ext uri="{BB962C8B-B14F-4D97-AF65-F5344CB8AC3E}">
        <p14:creationId xmlns:p14="http://schemas.microsoft.com/office/powerpoint/2010/main" val="942680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18891C-D92E-E23B-E8E3-972F349B2AE0}"/>
              </a:ext>
            </a:extLst>
          </p:cNvPr>
          <p:cNvSpPr>
            <a:spLocks noGrp="1"/>
          </p:cNvSpPr>
          <p:nvPr>
            <p:ph type="title"/>
          </p:nvPr>
        </p:nvSpPr>
        <p:spPr/>
        <p:txBody>
          <a:bodyPr/>
          <a:lstStyle/>
          <a:p>
            <a:r>
              <a:rPr lang="en-GB" dirty="0" err="1"/>
              <a:t>Différence</a:t>
            </a:r>
            <a:r>
              <a:rPr lang="en-GB" dirty="0"/>
              <a:t> entre processus </a:t>
            </a:r>
            <a:r>
              <a:rPr lang="en-GB" dirty="0" err="1"/>
              <a:t>métier</a:t>
            </a:r>
            <a:r>
              <a:rPr lang="en-GB" dirty="0"/>
              <a:t> et workflow</a:t>
            </a:r>
          </a:p>
        </p:txBody>
      </p:sp>
      <p:sp>
        <p:nvSpPr>
          <p:cNvPr id="3" name="Espace réservé du contenu 2">
            <a:extLst>
              <a:ext uri="{FF2B5EF4-FFF2-40B4-BE49-F238E27FC236}">
                <a16:creationId xmlns:a16="http://schemas.microsoft.com/office/drawing/2014/main" id="{53A7E5A5-AF86-04D0-649C-EF0E65D297EF}"/>
              </a:ext>
            </a:extLst>
          </p:cNvPr>
          <p:cNvSpPr>
            <a:spLocks noGrp="1"/>
          </p:cNvSpPr>
          <p:nvPr>
            <p:ph idx="1"/>
          </p:nvPr>
        </p:nvSpPr>
        <p:spPr>
          <a:xfrm>
            <a:off x="1066800" y="1851723"/>
            <a:ext cx="10058400" cy="4181087"/>
          </a:xfrm>
        </p:spPr>
        <p:txBody>
          <a:bodyPr>
            <a:normAutofit fontScale="77500" lnSpcReduction="20000"/>
          </a:bodyPr>
          <a:lstStyle/>
          <a:p>
            <a:r>
              <a:rPr lang="fr-FR" sz="2800" dirty="0"/>
              <a:t>Le </a:t>
            </a:r>
            <a:r>
              <a:rPr lang="fr-FR" sz="2800" b="1" dirty="0"/>
              <a:t>workflow</a:t>
            </a:r>
            <a:r>
              <a:rPr lang="fr-FR" sz="2800" dirty="0"/>
              <a:t> correspond à :</a:t>
            </a:r>
          </a:p>
          <a:p>
            <a:r>
              <a:rPr lang="fr-FR" sz="2800" dirty="0"/>
              <a:t>l’organisation du travail </a:t>
            </a:r>
          </a:p>
          <a:p>
            <a:r>
              <a:rPr lang="fr-FR" sz="2800" dirty="0"/>
              <a:t>la séquence des activités </a:t>
            </a:r>
          </a:p>
          <a:p>
            <a:r>
              <a:rPr lang="fr-FR" sz="2800" dirty="0"/>
              <a:t>l’exécution concrète du processus </a:t>
            </a:r>
          </a:p>
          <a:p>
            <a:r>
              <a:rPr lang="fr-FR" sz="2800" dirty="0"/>
              <a:t> Il inclut :</a:t>
            </a:r>
          </a:p>
          <a:p>
            <a:r>
              <a:rPr lang="fr-FR" sz="2800" dirty="0"/>
              <a:t>tâches manuelles </a:t>
            </a:r>
          </a:p>
          <a:p>
            <a:r>
              <a:rPr lang="fr-FR" sz="2800" dirty="0"/>
              <a:t>tâches automatisées</a:t>
            </a:r>
          </a:p>
          <a:p>
            <a:r>
              <a:rPr lang="fr-FR" sz="2800" dirty="0"/>
              <a:t>Il permet d’organiser les tâches, d’automatiser les processus et d’améliorer la performance </a:t>
            </a:r>
          </a:p>
          <a:p>
            <a:endParaRPr lang="fr-FR" sz="2800" dirty="0"/>
          </a:p>
        </p:txBody>
      </p:sp>
      <p:sp>
        <p:nvSpPr>
          <p:cNvPr id="4" name="Espace réservé de la date 3">
            <a:extLst>
              <a:ext uri="{FF2B5EF4-FFF2-40B4-BE49-F238E27FC236}">
                <a16:creationId xmlns:a16="http://schemas.microsoft.com/office/drawing/2014/main" id="{F6EE02BF-8959-F8CB-A88D-B767D3C8BC06}"/>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
        <p:nvSpPr>
          <p:cNvPr id="5" name="ZoneTexte 4">
            <a:extLst>
              <a:ext uri="{FF2B5EF4-FFF2-40B4-BE49-F238E27FC236}">
                <a16:creationId xmlns:a16="http://schemas.microsoft.com/office/drawing/2014/main" id="{B0E7D266-F9C2-8A30-ACB1-38BA5B60A619}"/>
              </a:ext>
            </a:extLst>
          </p:cNvPr>
          <p:cNvSpPr txBox="1"/>
          <p:nvPr/>
        </p:nvSpPr>
        <p:spPr>
          <a:xfrm>
            <a:off x="6567055" y="2066306"/>
            <a:ext cx="5070763" cy="2585323"/>
          </a:xfrm>
          <a:prstGeom prst="rect">
            <a:avLst/>
          </a:prstGeom>
          <a:noFill/>
        </p:spPr>
        <p:txBody>
          <a:bodyPr wrap="square" rtlCol="0">
            <a:spAutoFit/>
          </a:bodyPr>
          <a:lstStyle/>
          <a:p>
            <a:r>
              <a:rPr lang="fr-FR" sz="2400" dirty="0"/>
              <a:t>Pour "réserver une salle" :</a:t>
            </a:r>
          </a:p>
          <a:p>
            <a:r>
              <a:rPr lang="fr-FR" sz="2400" dirty="0"/>
              <a:t>Soumettre une demande </a:t>
            </a:r>
          </a:p>
          <a:p>
            <a:r>
              <a:rPr lang="fr-FR" sz="2400" dirty="0"/>
              <a:t>Vérifier la disponibilité </a:t>
            </a:r>
          </a:p>
          <a:p>
            <a:r>
              <a:rPr lang="fr-FR" sz="2400" dirty="0"/>
              <a:t>Valider la demande </a:t>
            </a:r>
          </a:p>
          <a:p>
            <a:r>
              <a:rPr lang="fr-FR" sz="2400" dirty="0"/>
              <a:t>Enregistrer la réservation </a:t>
            </a:r>
          </a:p>
          <a:p>
            <a:r>
              <a:rPr lang="fr-FR" sz="2400" dirty="0"/>
              <a:t>Envoyer une notification</a:t>
            </a:r>
          </a:p>
          <a:p>
            <a:endParaRPr lang="en-GB" dirty="0"/>
          </a:p>
        </p:txBody>
      </p:sp>
    </p:spTree>
    <p:extLst>
      <p:ext uri="{BB962C8B-B14F-4D97-AF65-F5344CB8AC3E}">
        <p14:creationId xmlns:p14="http://schemas.microsoft.com/office/powerpoint/2010/main" val="826501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58A747-8610-A18B-A3C6-9F16847C3768}"/>
              </a:ext>
            </a:extLst>
          </p:cNvPr>
          <p:cNvSpPr>
            <a:spLocks noGrp="1"/>
          </p:cNvSpPr>
          <p:nvPr>
            <p:ph type="title"/>
          </p:nvPr>
        </p:nvSpPr>
        <p:spPr/>
        <p:txBody>
          <a:bodyPr/>
          <a:lstStyle/>
          <a:p>
            <a:r>
              <a:rPr lang="en-GB" dirty="0" err="1"/>
              <a:t>Différence</a:t>
            </a:r>
            <a:r>
              <a:rPr lang="en-GB" dirty="0"/>
              <a:t> entre processus </a:t>
            </a:r>
            <a:r>
              <a:rPr lang="en-GB" dirty="0" err="1"/>
              <a:t>métier</a:t>
            </a:r>
            <a:r>
              <a:rPr lang="en-GB" dirty="0"/>
              <a:t> et workflow</a:t>
            </a:r>
          </a:p>
        </p:txBody>
      </p:sp>
      <p:sp>
        <p:nvSpPr>
          <p:cNvPr id="4" name="Espace réservé de la date 3">
            <a:extLst>
              <a:ext uri="{FF2B5EF4-FFF2-40B4-BE49-F238E27FC236}">
                <a16:creationId xmlns:a16="http://schemas.microsoft.com/office/drawing/2014/main" id="{4DEB40EC-0480-F9C2-01B9-B05FCD34A8A1}"/>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
        <p:nvSpPr>
          <p:cNvPr id="5" name="Rectangle 1">
            <a:extLst>
              <a:ext uri="{FF2B5EF4-FFF2-40B4-BE49-F238E27FC236}">
                <a16:creationId xmlns:a16="http://schemas.microsoft.com/office/drawing/2014/main" id="{F556168C-8CA0-D105-1D04-853D85E18E79}"/>
              </a:ext>
            </a:extLst>
          </p:cNvPr>
          <p:cNvSpPr>
            <a:spLocks noGrp="1" noChangeArrowheads="1"/>
          </p:cNvSpPr>
          <p:nvPr>
            <p:ph idx="1"/>
          </p:nvPr>
        </p:nvSpPr>
        <p:spPr bwMode="auto">
          <a:xfrm>
            <a:off x="1186345" y="1737360"/>
            <a:ext cx="9819310" cy="4113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fr-FR" altLang="fr-FR" sz="2800" b="0" i="0" u="none" strike="noStrike" cap="none" normalizeH="0" baseline="0" dirty="0">
                <a:ln>
                  <a:noFill/>
                </a:ln>
                <a:solidFill>
                  <a:schemeClr val="tx1"/>
                </a:solidFill>
                <a:effectLst/>
              </a:rPr>
              <a:t>Processus métier = </a:t>
            </a:r>
            <a:r>
              <a:rPr kumimoji="0" lang="fr-FR" altLang="fr-FR" sz="2800" b="1" i="0" u="none" strike="noStrike" cap="none" normalizeH="0" baseline="0" dirty="0">
                <a:ln>
                  <a:noFill/>
                </a:ln>
                <a:solidFill>
                  <a:schemeClr val="tx1"/>
                </a:solidFill>
                <a:effectLst/>
              </a:rPr>
              <a:t>QUOI faire</a:t>
            </a:r>
            <a:r>
              <a:rPr kumimoji="0" lang="fr-FR" altLang="fr-FR" sz="2800" b="0" i="0" u="none" strike="noStrike" cap="none" normalizeH="0" baseline="0" dirty="0">
                <a:ln>
                  <a:noFill/>
                </a:ln>
                <a:solidFill>
                  <a:schemeClr val="tx1"/>
                </a:solidFill>
                <a:effectLst/>
              </a:rPr>
              <a:t> </a:t>
            </a:r>
          </a:p>
          <a:p>
            <a:r>
              <a:rPr kumimoji="0" lang="fr-FR" altLang="fr-FR" sz="2800" b="0" i="0" u="none" strike="noStrike" cap="none" normalizeH="0" baseline="0" dirty="0">
                <a:ln>
                  <a:noFill/>
                </a:ln>
                <a:solidFill>
                  <a:schemeClr val="tx1"/>
                </a:solidFill>
                <a:effectLst/>
              </a:rPr>
              <a:t>Workflow = </a:t>
            </a:r>
            <a:r>
              <a:rPr kumimoji="0" lang="fr-FR" altLang="fr-FR" sz="2800" b="1" i="0" u="none" strike="noStrike" cap="none" normalizeH="0" baseline="0" dirty="0">
                <a:ln>
                  <a:noFill/>
                </a:ln>
                <a:solidFill>
                  <a:schemeClr val="tx1"/>
                </a:solidFill>
                <a:effectLst/>
              </a:rPr>
              <a:t>COMMENT le faire</a:t>
            </a:r>
            <a:br>
              <a:rPr kumimoji="0" lang="fr-FR" altLang="fr-FR" sz="2800" b="1" i="0" u="none" strike="noStrike" cap="none" normalizeH="0" baseline="0" dirty="0">
                <a:ln>
                  <a:noFill/>
                </a:ln>
                <a:solidFill>
                  <a:schemeClr val="tx1"/>
                </a:solidFill>
                <a:effectLst/>
              </a:rPr>
            </a:br>
            <a:r>
              <a:rPr lang="fr-FR" sz="2800" dirty="0"/>
              <a:t>Processus métier : vision globale, orienté métier, indépendant des outils </a:t>
            </a:r>
          </a:p>
          <a:p>
            <a:r>
              <a:rPr lang="fr-FR" sz="2800" dirty="0"/>
              <a:t>Workflow : vision détaillée, orienté exécution, souvent automatisé</a:t>
            </a:r>
          </a:p>
          <a:p>
            <a:pPr marL="0" marR="0" lvl="0" indent="0" algn="l" defTabSz="914400" rtl="0" eaLnBrk="0" fontAlgn="base" latinLnBrk="0" hangingPunct="0">
              <a:lnSpc>
                <a:spcPct val="100000"/>
              </a:lnSpc>
              <a:spcBef>
                <a:spcPct val="0"/>
              </a:spcBef>
              <a:spcAft>
                <a:spcPct val="0"/>
              </a:spcAft>
              <a:buClrTx/>
              <a:buSzTx/>
              <a:buNone/>
              <a:tabLst/>
            </a:pPr>
            <a:endParaRPr kumimoji="0" lang="fr-FR" altLang="fr-FR" sz="2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809337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FB3407-5D75-1103-28B6-5762D08563A9}"/>
              </a:ext>
            </a:extLst>
          </p:cNvPr>
          <p:cNvSpPr>
            <a:spLocks noGrp="1"/>
          </p:cNvSpPr>
          <p:nvPr>
            <p:ph type="title"/>
          </p:nvPr>
        </p:nvSpPr>
        <p:spPr/>
        <p:txBody>
          <a:bodyPr/>
          <a:lstStyle/>
          <a:p>
            <a:r>
              <a:rPr lang="en-GB" dirty="0" err="1"/>
              <a:t>Modélisation</a:t>
            </a:r>
            <a:endParaRPr lang="en-GB" dirty="0"/>
          </a:p>
        </p:txBody>
      </p:sp>
      <p:sp>
        <p:nvSpPr>
          <p:cNvPr id="3" name="Espace réservé du contenu 2">
            <a:extLst>
              <a:ext uri="{FF2B5EF4-FFF2-40B4-BE49-F238E27FC236}">
                <a16:creationId xmlns:a16="http://schemas.microsoft.com/office/drawing/2014/main" id="{445EBD3E-985A-0104-8F7D-236469FBE8D8}"/>
              </a:ext>
            </a:extLst>
          </p:cNvPr>
          <p:cNvSpPr>
            <a:spLocks noGrp="1"/>
          </p:cNvSpPr>
          <p:nvPr>
            <p:ph idx="1"/>
          </p:nvPr>
        </p:nvSpPr>
        <p:spPr>
          <a:xfrm>
            <a:off x="1097280" y="1906859"/>
            <a:ext cx="10058400" cy="4337824"/>
          </a:xfrm>
        </p:spPr>
        <p:txBody>
          <a:bodyPr>
            <a:noAutofit/>
          </a:bodyPr>
          <a:lstStyle/>
          <a:p>
            <a:r>
              <a:rPr lang="fr-FR" sz="2400" dirty="0"/>
              <a:t>Il existe deux approches dans la littérature permettant la définition du comportement d’un </a:t>
            </a:r>
            <a:r>
              <a:rPr lang="en-GB" sz="2400" dirty="0"/>
              <a:t>processus :</a:t>
            </a:r>
          </a:p>
          <a:p>
            <a:r>
              <a:rPr lang="fr-FR" sz="2400" dirty="0"/>
              <a:t>Approche impérative : se concentre sur la définition précise de la façon </a:t>
            </a:r>
            <a:r>
              <a:rPr lang="fr-FR" sz="2400"/>
              <a:t>dont l’ensemble d’activité </a:t>
            </a:r>
            <a:r>
              <a:rPr lang="fr-FR" sz="2400" dirty="0"/>
              <a:t>doit être achevé « le quoi faire ». Plusieurs langages impératifs tels que BPMN</a:t>
            </a:r>
            <a:r>
              <a:rPr lang="en-GB" sz="2400" dirty="0"/>
              <a:t>, UML activity diagram, EPC.</a:t>
            </a:r>
          </a:p>
          <a:p>
            <a:r>
              <a:rPr lang="fr-FR" sz="2400" dirty="0"/>
              <a:t>Approche déclarative : concentre plus sur « ce qui devrait être fait ». Comme exemple des</a:t>
            </a:r>
          </a:p>
          <a:p>
            <a:r>
              <a:rPr lang="fr-FR" sz="2400" dirty="0"/>
              <a:t>langages déclaratifs, il existe </a:t>
            </a:r>
            <a:r>
              <a:rPr lang="fr-FR" sz="2400" dirty="0" err="1"/>
              <a:t>eConDec</a:t>
            </a:r>
            <a:r>
              <a:rPr lang="fr-FR" sz="2400" dirty="0"/>
              <a:t>, PLM-flow, PENELOPE.</a:t>
            </a:r>
            <a:endParaRPr lang="en-GB" sz="2400" dirty="0"/>
          </a:p>
        </p:txBody>
      </p:sp>
      <p:sp>
        <p:nvSpPr>
          <p:cNvPr id="4" name="Espace réservé de la date 3">
            <a:extLst>
              <a:ext uri="{FF2B5EF4-FFF2-40B4-BE49-F238E27FC236}">
                <a16:creationId xmlns:a16="http://schemas.microsoft.com/office/drawing/2014/main" id="{FC9E7D83-81D4-6884-8C7F-BEC66794EA9D}"/>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3381015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97744D-FEC7-535A-0A34-CD97A13EF37E}"/>
              </a:ext>
            </a:extLst>
          </p:cNvPr>
          <p:cNvSpPr>
            <a:spLocks noGrp="1"/>
          </p:cNvSpPr>
          <p:nvPr>
            <p:ph type="title"/>
          </p:nvPr>
        </p:nvSpPr>
        <p:spPr>
          <a:xfrm>
            <a:off x="1097279" y="286603"/>
            <a:ext cx="10243655" cy="1450757"/>
          </a:xfrm>
        </p:spPr>
        <p:txBody>
          <a:bodyPr/>
          <a:lstStyle/>
          <a:p>
            <a:r>
              <a:rPr lang="en-GB" dirty="0"/>
              <a:t>BPMN: Business Process </a:t>
            </a:r>
            <a:r>
              <a:rPr lang="en-GB" dirty="0" err="1"/>
              <a:t>Modeling</a:t>
            </a:r>
            <a:r>
              <a:rPr lang="en-GB" dirty="0"/>
              <a:t> Notation</a:t>
            </a:r>
          </a:p>
        </p:txBody>
      </p:sp>
      <p:sp>
        <p:nvSpPr>
          <p:cNvPr id="3" name="Espace réservé du contenu 2">
            <a:extLst>
              <a:ext uri="{FF2B5EF4-FFF2-40B4-BE49-F238E27FC236}">
                <a16:creationId xmlns:a16="http://schemas.microsoft.com/office/drawing/2014/main" id="{A408DB51-269D-8A1A-9A0E-21D7903008CE}"/>
              </a:ext>
            </a:extLst>
          </p:cNvPr>
          <p:cNvSpPr>
            <a:spLocks noGrp="1"/>
          </p:cNvSpPr>
          <p:nvPr>
            <p:ph idx="1"/>
          </p:nvPr>
        </p:nvSpPr>
        <p:spPr/>
        <p:txBody>
          <a:bodyPr>
            <a:normAutofit/>
          </a:bodyPr>
          <a:lstStyle/>
          <a:p>
            <a:r>
              <a:rPr lang="fr-FR" sz="2800" dirty="0"/>
              <a:t>Il est défini pour la modélisation de processus métier d’une entreprise permettant de définir une notation graphique commune à tous les outils de modélisation.il a été est proposé par le consortium OMG « Object Management Group » et BMPI « Business Process Management Initiative » depuis leur fusion en 2005. Il a été ensuite maintenu par l’OMG en 2006 (OMG, 2006).</a:t>
            </a:r>
            <a:endParaRPr lang="en-GB" sz="2800" dirty="0"/>
          </a:p>
        </p:txBody>
      </p:sp>
      <p:sp>
        <p:nvSpPr>
          <p:cNvPr id="4" name="Espace réservé de la date 3">
            <a:extLst>
              <a:ext uri="{FF2B5EF4-FFF2-40B4-BE49-F238E27FC236}">
                <a16:creationId xmlns:a16="http://schemas.microsoft.com/office/drawing/2014/main" id="{EAC456EF-DD31-1949-8EE4-9000C0CF6A7B}"/>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6893166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EBE81E-0B00-E0F0-B210-848A3D8F2E9C}"/>
              </a:ext>
            </a:extLst>
          </p:cNvPr>
          <p:cNvSpPr>
            <a:spLocks noGrp="1"/>
          </p:cNvSpPr>
          <p:nvPr>
            <p:ph type="title"/>
          </p:nvPr>
        </p:nvSpPr>
        <p:spPr/>
        <p:txBody>
          <a:bodyPr/>
          <a:lstStyle/>
          <a:p>
            <a:r>
              <a:rPr lang="en-GB" dirty="0"/>
              <a:t>Notation BPMN 2.0</a:t>
            </a:r>
          </a:p>
        </p:txBody>
      </p:sp>
      <p:sp>
        <p:nvSpPr>
          <p:cNvPr id="3" name="Espace réservé du contenu 2">
            <a:extLst>
              <a:ext uri="{FF2B5EF4-FFF2-40B4-BE49-F238E27FC236}">
                <a16:creationId xmlns:a16="http://schemas.microsoft.com/office/drawing/2014/main" id="{0D62A363-9337-6AE0-E1D8-EC2C6595FA67}"/>
              </a:ext>
            </a:extLst>
          </p:cNvPr>
          <p:cNvSpPr>
            <a:spLocks noGrp="1"/>
          </p:cNvSpPr>
          <p:nvPr>
            <p:ph idx="1"/>
          </p:nvPr>
        </p:nvSpPr>
        <p:spPr>
          <a:xfrm>
            <a:off x="380010" y="1960497"/>
            <a:ext cx="10775670" cy="4486341"/>
          </a:xfrm>
        </p:spPr>
        <p:txBody>
          <a:bodyPr>
            <a:normAutofit lnSpcReduction="10000"/>
          </a:bodyPr>
          <a:lstStyle/>
          <a:p>
            <a:r>
              <a:rPr lang="fr-FR" sz="2400" dirty="0"/>
              <a:t>Un diagramme BPMN  est composé d’un ensemble d’éléments graphiques qui permettent de modéliser les activités, les flux, les relations, les données et l’interaction entre ces </a:t>
            </a:r>
            <a:r>
              <a:rPr lang="en-GB" sz="2400" dirty="0" err="1"/>
              <a:t>éléments</a:t>
            </a:r>
            <a:r>
              <a:rPr lang="en-GB" sz="2400" dirty="0"/>
              <a:t>.</a:t>
            </a:r>
          </a:p>
          <a:p>
            <a:r>
              <a:rPr lang="fr-FR" sz="2400" dirty="0"/>
              <a:t>Les différents éléments sont organisés en cinq catégories :</a:t>
            </a:r>
          </a:p>
          <a:p>
            <a:r>
              <a:rPr lang="fr-FR" sz="2400" dirty="0"/>
              <a:t>• Les objets de flux (Flow Object)</a:t>
            </a:r>
          </a:p>
          <a:p>
            <a:r>
              <a:rPr lang="fr-FR" sz="2400" dirty="0"/>
              <a:t>• Les objets de connexion (</a:t>
            </a:r>
            <a:r>
              <a:rPr lang="fr-FR" sz="2400" dirty="0" err="1"/>
              <a:t>Connecting</a:t>
            </a:r>
            <a:r>
              <a:rPr lang="fr-FR" sz="2400" dirty="0"/>
              <a:t> Object).</a:t>
            </a:r>
          </a:p>
          <a:p>
            <a:r>
              <a:rPr lang="en-GB" sz="2400" dirty="0"/>
              <a:t>• Les partitions (</a:t>
            </a:r>
            <a:r>
              <a:rPr lang="en-GB" sz="2400" dirty="0" err="1"/>
              <a:t>Swimlanes</a:t>
            </a:r>
            <a:r>
              <a:rPr lang="en-GB" sz="2400" dirty="0"/>
              <a:t>).</a:t>
            </a:r>
          </a:p>
          <a:p>
            <a:r>
              <a:rPr lang="en-GB" sz="2400" dirty="0"/>
              <a:t>• Les données.</a:t>
            </a:r>
          </a:p>
          <a:p>
            <a:r>
              <a:rPr lang="en-GB" sz="2400" dirty="0"/>
              <a:t>• Les </a:t>
            </a:r>
            <a:r>
              <a:rPr lang="en-GB" sz="2400" dirty="0" err="1"/>
              <a:t>artéfacts</a:t>
            </a:r>
            <a:r>
              <a:rPr lang="en-GB" sz="2400" dirty="0"/>
              <a:t> (Artifacts).</a:t>
            </a:r>
          </a:p>
        </p:txBody>
      </p:sp>
      <p:sp>
        <p:nvSpPr>
          <p:cNvPr id="4" name="Espace réservé de la date 3">
            <a:extLst>
              <a:ext uri="{FF2B5EF4-FFF2-40B4-BE49-F238E27FC236}">
                <a16:creationId xmlns:a16="http://schemas.microsoft.com/office/drawing/2014/main" id="{73D1EDCB-7ABF-1F26-1ABE-58EA33AF09E7}"/>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12680217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A830C5-6E9B-6AC4-6C3E-DBBDCC6D9003}"/>
              </a:ext>
            </a:extLst>
          </p:cNvPr>
          <p:cNvSpPr>
            <a:spLocks noGrp="1"/>
          </p:cNvSpPr>
          <p:nvPr>
            <p:ph type="title"/>
          </p:nvPr>
        </p:nvSpPr>
        <p:spPr/>
        <p:txBody>
          <a:bodyPr/>
          <a:lstStyle/>
          <a:p>
            <a:r>
              <a:rPr lang="en-GB" dirty="0"/>
              <a:t>Notation BPMN 2.0</a:t>
            </a:r>
          </a:p>
        </p:txBody>
      </p:sp>
      <p:pic>
        <p:nvPicPr>
          <p:cNvPr id="6" name="Espace réservé du contenu 5">
            <a:extLst>
              <a:ext uri="{FF2B5EF4-FFF2-40B4-BE49-F238E27FC236}">
                <a16:creationId xmlns:a16="http://schemas.microsoft.com/office/drawing/2014/main" id="{6D466326-4664-0E86-0AA1-7BDD7D614943}"/>
              </a:ext>
            </a:extLst>
          </p:cNvPr>
          <p:cNvPicPr>
            <a:picLocks noGrp="1" noChangeAspect="1"/>
          </p:cNvPicPr>
          <p:nvPr>
            <p:ph idx="1"/>
          </p:nvPr>
        </p:nvPicPr>
        <p:blipFill>
          <a:blip r:embed="rId2"/>
          <a:stretch>
            <a:fillRect/>
          </a:stretch>
        </p:blipFill>
        <p:spPr>
          <a:xfrm>
            <a:off x="1959429" y="1935678"/>
            <a:ext cx="7116791" cy="4358244"/>
          </a:xfrm>
          <a:prstGeom prst="rect">
            <a:avLst/>
          </a:prstGeom>
        </p:spPr>
      </p:pic>
      <p:sp>
        <p:nvSpPr>
          <p:cNvPr id="4" name="Espace réservé de la date 3">
            <a:extLst>
              <a:ext uri="{FF2B5EF4-FFF2-40B4-BE49-F238E27FC236}">
                <a16:creationId xmlns:a16="http://schemas.microsoft.com/office/drawing/2014/main" id="{CA1BDFBA-1831-7742-F0DA-C7E06B0AF401}"/>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3075397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7089C-80C7-4146-5FC2-9AD355F3D1F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143F725-55ED-E59E-D403-2FD709A33440}"/>
              </a:ext>
            </a:extLst>
          </p:cNvPr>
          <p:cNvSpPr>
            <a:spLocks noGrp="1"/>
          </p:cNvSpPr>
          <p:nvPr>
            <p:ph type="title"/>
          </p:nvPr>
        </p:nvSpPr>
        <p:spPr/>
        <p:txBody>
          <a:bodyPr/>
          <a:lstStyle/>
          <a:p>
            <a:r>
              <a:rPr lang="en-GB" dirty="0"/>
              <a:t>Les </a:t>
            </a:r>
            <a:r>
              <a:rPr lang="en-GB" dirty="0" err="1"/>
              <a:t>objets</a:t>
            </a:r>
            <a:r>
              <a:rPr lang="en-GB" dirty="0"/>
              <a:t> de flux</a:t>
            </a:r>
          </a:p>
        </p:txBody>
      </p:sp>
      <p:sp>
        <p:nvSpPr>
          <p:cNvPr id="3" name="Espace réservé du contenu 2">
            <a:extLst>
              <a:ext uri="{FF2B5EF4-FFF2-40B4-BE49-F238E27FC236}">
                <a16:creationId xmlns:a16="http://schemas.microsoft.com/office/drawing/2014/main" id="{745517BA-89C1-E6AA-1335-527FB4BC6B45}"/>
              </a:ext>
            </a:extLst>
          </p:cNvPr>
          <p:cNvSpPr>
            <a:spLocks noGrp="1"/>
          </p:cNvSpPr>
          <p:nvPr>
            <p:ph idx="1"/>
          </p:nvPr>
        </p:nvSpPr>
        <p:spPr>
          <a:xfrm>
            <a:off x="1097280" y="1960497"/>
            <a:ext cx="10058400" cy="4486341"/>
          </a:xfrm>
        </p:spPr>
        <p:txBody>
          <a:bodyPr>
            <a:normAutofit/>
          </a:bodyPr>
          <a:lstStyle/>
          <a:p>
            <a:r>
              <a:rPr lang="fr-FR" sz="2800" dirty="0"/>
              <a:t>Ce sont les principaux éléments graphiques qui permettent de définir le comportement d’un processus métier. Il existe trois types d’objets flux « les activités », «les événements » et « les passerelle » </a:t>
            </a:r>
            <a:endParaRPr lang="en-GB" sz="2800" dirty="0"/>
          </a:p>
        </p:txBody>
      </p:sp>
      <p:sp>
        <p:nvSpPr>
          <p:cNvPr id="4" name="Espace réservé de la date 3">
            <a:extLst>
              <a:ext uri="{FF2B5EF4-FFF2-40B4-BE49-F238E27FC236}">
                <a16:creationId xmlns:a16="http://schemas.microsoft.com/office/drawing/2014/main" id="{D6DB1545-00E1-A09D-24BB-263FB89938AB}"/>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42326579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B1752A-C620-810F-307F-330861B2A957}"/>
              </a:ext>
            </a:extLst>
          </p:cNvPr>
          <p:cNvSpPr>
            <a:spLocks noGrp="1"/>
          </p:cNvSpPr>
          <p:nvPr>
            <p:ph type="title"/>
          </p:nvPr>
        </p:nvSpPr>
        <p:spPr/>
        <p:txBody>
          <a:bodyPr/>
          <a:lstStyle/>
          <a:p>
            <a:r>
              <a:rPr lang="en-GB" dirty="0"/>
              <a:t>Les </a:t>
            </a:r>
            <a:r>
              <a:rPr lang="en-GB" dirty="0" err="1"/>
              <a:t>activités</a:t>
            </a:r>
            <a:endParaRPr lang="en-GB" dirty="0"/>
          </a:p>
        </p:txBody>
      </p:sp>
      <p:sp>
        <p:nvSpPr>
          <p:cNvPr id="3" name="Espace réservé du contenu 2">
            <a:extLst>
              <a:ext uri="{FF2B5EF4-FFF2-40B4-BE49-F238E27FC236}">
                <a16:creationId xmlns:a16="http://schemas.microsoft.com/office/drawing/2014/main" id="{701517F1-0842-E72D-DA42-2906F87680C3}"/>
              </a:ext>
            </a:extLst>
          </p:cNvPr>
          <p:cNvSpPr>
            <a:spLocks noGrp="1"/>
          </p:cNvSpPr>
          <p:nvPr>
            <p:ph idx="1"/>
          </p:nvPr>
        </p:nvSpPr>
        <p:spPr/>
        <p:txBody>
          <a:bodyPr>
            <a:normAutofit/>
          </a:bodyPr>
          <a:lstStyle/>
          <a:p>
            <a:r>
              <a:rPr lang="fr-FR" sz="2800" dirty="0"/>
              <a:t>Elles sont représentées par un rectangle aux coins arrondis qui correspondent à une action qui peut être réalisée par un humain ou une machine, une activité peut être atomique ou composée. Il existe 3 types d’activités : </a:t>
            </a:r>
            <a:r>
              <a:rPr lang="en-GB" sz="2800" dirty="0" err="1"/>
              <a:t>Tâche</a:t>
            </a:r>
            <a:r>
              <a:rPr lang="en-GB" sz="2800" dirty="0"/>
              <a:t>, Sous-processus, </a:t>
            </a:r>
            <a:r>
              <a:rPr lang="en-GB" sz="2800" dirty="0" err="1"/>
              <a:t>activité</a:t>
            </a:r>
            <a:r>
              <a:rPr lang="en-GB" sz="2800" dirty="0"/>
              <a:t> </a:t>
            </a:r>
            <a:r>
              <a:rPr lang="en-GB" sz="2800" dirty="0" err="1"/>
              <a:t>d’appel</a:t>
            </a:r>
            <a:r>
              <a:rPr lang="en-GB" sz="2800" dirty="0"/>
              <a:t>.</a:t>
            </a:r>
            <a:endParaRPr lang="fr-FR" sz="2800" dirty="0"/>
          </a:p>
        </p:txBody>
      </p:sp>
      <p:sp>
        <p:nvSpPr>
          <p:cNvPr id="4" name="Espace réservé de la date 3">
            <a:extLst>
              <a:ext uri="{FF2B5EF4-FFF2-40B4-BE49-F238E27FC236}">
                <a16:creationId xmlns:a16="http://schemas.microsoft.com/office/drawing/2014/main" id="{AA0D8FBA-ACA7-9D28-FFBE-67F744869D68}"/>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30282415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E5C652-813A-B026-36CB-26F4792EC6B3}"/>
              </a:ext>
            </a:extLst>
          </p:cNvPr>
          <p:cNvSpPr>
            <a:spLocks noGrp="1"/>
          </p:cNvSpPr>
          <p:nvPr>
            <p:ph type="title"/>
          </p:nvPr>
        </p:nvSpPr>
        <p:spPr/>
        <p:txBody>
          <a:bodyPr/>
          <a:lstStyle/>
          <a:p>
            <a:r>
              <a:rPr lang="en-GB" dirty="0"/>
              <a:t>Les </a:t>
            </a:r>
            <a:r>
              <a:rPr lang="en-GB" dirty="0" err="1"/>
              <a:t>tâches</a:t>
            </a:r>
            <a:endParaRPr lang="en-GB" dirty="0"/>
          </a:p>
        </p:txBody>
      </p:sp>
      <p:sp>
        <p:nvSpPr>
          <p:cNvPr id="3" name="Espace réservé du contenu 2">
            <a:extLst>
              <a:ext uri="{FF2B5EF4-FFF2-40B4-BE49-F238E27FC236}">
                <a16:creationId xmlns:a16="http://schemas.microsoft.com/office/drawing/2014/main" id="{D16622EC-4ABB-93E4-1241-610E87EC98B0}"/>
              </a:ext>
            </a:extLst>
          </p:cNvPr>
          <p:cNvSpPr>
            <a:spLocks noGrp="1"/>
          </p:cNvSpPr>
          <p:nvPr>
            <p:ph idx="1"/>
          </p:nvPr>
        </p:nvSpPr>
        <p:spPr/>
        <p:txBody>
          <a:bodyPr>
            <a:normAutofit/>
          </a:bodyPr>
          <a:lstStyle/>
          <a:p>
            <a:r>
              <a:rPr lang="fr-FR" sz="2400" dirty="0"/>
              <a:t>un objet tâche est présenté sous forme d’un rectangle à coins arrondis qui doit être tracé avec une seule ligne mince, une tâche est une activité atomique et chaque tâche a un début et une fin. Par conséquent cette dernière ne peut débuter que si la tâche précédente est terminée. il existe sept types de tâches : </a:t>
            </a:r>
          </a:p>
          <a:p>
            <a:endParaRPr lang="en-GB" sz="2400" dirty="0"/>
          </a:p>
        </p:txBody>
      </p:sp>
      <p:sp>
        <p:nvSpPr>
          <p:cNvPr id="4" name="Espace réservé de la date 3">
            <a:extLst>
              <a:ext uri="{FF2B5EF4-FFF2-40B4-BE49-F238E27FC236}">
                <a16:creationId xmlns:a16="http://schemas.microsoft.com/office/drawing/2014/main" id="{7E523871-F505-0F16-25FF-DEC572736BA3}"/>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pic>
        <p:nvPicPr>
          <p:cNvPr id="6" name="Image 5">
            <a:extLst>
              <a:ext uri="{FF2B5EF4-FFF2-40B4-BE49-F238E27FC236}">
                <a16:creationId xmlns:a16="http://schemas.microsoft.com/office/drawing/2014/main" id="{4CABB87D-64C1-8D0B-1459-BAC4496BD3D7}"/>
              </a:ext>
            </a:extLst>
          </p:cNvPr>
          <p:cNvPicPr>
            <a:picLocks noChangeAspect="1"/>
          </p:cNvPicPr>
          <p:nvPr/>
        </p:nvPicPr>
        <p:blipFill>
          <a:blip r:embed="rId2"/>
          <a:stretch>
            <a:fillRect/>
          </a:stretch>
        </p:blipFill>
        <p:spPr>
          <a:xfrm>
            <a:off x="1384955" y="4288654"/>
            <a:ext cx="8495818" cy="1869311"/>
          </a:xfrm>
          <a:prstGeom prst="rect">
            <a:avLst/>
          </a:prstGeom>
        </p:spPr>
      </p:pic>
    </p:spTree>
    <p:extLst>
      <p:ext uri="{BB962C8B-B14F-4D97-AF65-F5344CB8AC3E}">
        <p14:creationId xmlns:p14="http://schemas.microsoft.com/office/powerpoint/2010/main" val="5274614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A53BF6-B663-1BDA-0559-ECBC75D1F29E}"/>
              </a:ext>
            </a:extLst>
          </p:cNvPr>
          <p:cNvSpPr>
            <a:spLocks noGrp="1"/>
          </p:cNvSpPr>
          <p:nvPr>
            <p:ph type="title"/>
          </p:nvPr>
        </p:nvSpPr>
        <p:spPr/>
        <p:txBody>
          <a:bodyPr/>
          <a:lstStyle/>
          <a:p>
            <a:r>
              <a:rPr lang="en-GB" dirty="0"/>
              <a:t>Les </a:t>
            </a:r>
            <a:r>
              <a:rPr lang="en-GB" dirty="0" err="1"/>
              <a:t>tâches</a:t>
            </a:r>
            <a:endParaRPr lang="en-GB" dirty="0"/>
          </a:p>
        </p:txBody>
      </p:sp>
      <p:sp>
        <p:nvSpPr>
          <p:cNvPr id="3" name="Espace réservé du contenu 2">
            <a:extLst>
              <a:ext uri="{FF2B5EF4-FFF2-40B4-BE49-F238E27FC236}">
                <a16:creationId xmlns:a16="http://schemas.microsoft.com/office/drawing/2014/main" id="{8D979DC7-FC6D-C4B8-888E-5E9BBFDD6A6F}"/>
              </a:ext>
            </a:extLst>
          </p:cNvPr>
          <p:cNvSpPr>
            <a:spLocks noGrp="1"/>
          </p:cNvSpPr>
          <p:nvPr>
            <p:ph idx="1"/>
          </p:nvPr>
        </p:nvSpPr>
        <p:spPr/>
        <p:txBody>
          <a:bodyPr>
            <a:normAutofit/>
          </a:bodyPr>
          <a:lstStyle/>
          <a:p>
            <a:r>
              <a:rPr lang="fr-FR" sz="2400" dirty="0"/>
              <a:t>– Tâche d’envoi de message : spécifie l’envoie d’un message à un participant externe au processus. Une fois le message est envoyé, la tâche sera terminée.</a:t>
            </a:r>
          </a:p>
          <a:p>
            <a:r>
              <a:rPr lang="fr-FR" sz="2400" dirty="0"/>
              <a:t>– Tâche de réception d’un message : spécifie l’arrivée d’un message d’un participant au processus. Une fois le message est reçu, la tâche sera terminée.</a:t>
            </a:r>
          </a:p>
          <a:p>
            <a:r>
              <a:rPr lang="fr-FR" sz="2400" dirty="0"/>
              <a:t>– Tâche utilisateur : précise que la tâche est effectuée par un exécutant humain avec l’aide d’une application informatique.</a:t>
            </a:r>
          </a:p>
          <a:p>
            <a:endParaRPr lang="en-GB" dirty="0"/>
          </a:p>
        </p:txBody>
      </p:sp>
      <p:sp>
        <p:nvSpPr>
          <p:cNvPr id="4" name="Espace réservé de la date 3">
            <a:extLst>
              <a:ext uri="{FF2B5EF4-FFF2-40B4-BE49-F238E27FC236}">
                <a16:creationId xmlns:a16="http://schemas.microsoft.com/office/drawing/2014/main" id="{E7913C9C-6035-12E4-CC76-8A0CF366FD51}"/>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10329098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3D9306-19F4-883E-7F9B-7CE5C0B47B4E}"/>
              </a:ext>
            </a:extLst>
          </p:cNvPr>
          <p:cNvSpPr>
            <a:spLocks noGrp="1"/>
          </p:cNvSpPr>
          <p:nvPr>
            <p:ph type="title"/>
          </p:nvPr>
        </p:nvSpPr>
        <p:spPr/>
        <p:txBody>
          <a:bodyPr/>
          <a:lstStyle/>
          <a:p>
            <a:r>
              <a:rPr lang="en-GB" dirty="0"/>
              <a:t>Les </a:t>
            </a:r>
            <a:r>
              <a:rPr lang="en-GB" dirty="0" err="1"/>
              <a:t>tâches</a:t>
            </a:r>
            <a:endParaRPr lang="en-GB" dirty="0"/>
          </a:p>
        </p:txBody>
      </p:sp>
      <p:sp>
        <p:nvSpPr>
          <p:cNvPr id="3" name="Espace réservé du contenu 2">
            <a:extLst>
              <a:ext uri="{FF2B5EF4-FFF2-40B4-BE49-F238E27FC236}">
                <a16:creationId xmlns:a16="http://schemas.microsoft.com/office/drawing/2014/main" id="{B9F2465A-B4C5-DC50-D24C-BA61552A9492}"/>
              </a:ext>
            </a:extLst>
          </p:cNvPr>
          <p:cNvSpPr>
            <a:spLocks noGrp="1"/>
          </p:cNvSpPr>
          <p:nvPr>
            <p:ph idx="1"/>
          </p:nvPr>
        </p:nvSpPr>
        <p:spPr/>
        <p:txBody>
          <a:bodyPr>
            <a:noAutofit/>
          </a:bodyPr>
          <a:lstStyle/>
          <a:p>
            <a:r>
              <a:rPr lang="fr-FR" sz="2400" dirty="0"/>
              <a:t>– Tâche manuelle : précise que la tâche devrait être effectué sans l’aide d’un moteur d’exécution de processus métiers ou d’une application (c ’est-à-dire que la tâche est réalisée exclusivement par un acteur humain).</a:t>
            </a:r>
          </a:p>
          <a:p>
            <a:r>
              <a:rPr lang="fr-FR" sz="2400" dirty="0"/>
              <a:t>– Tâche service : utilise une sorte de service qui pourrait être un service Web ou une application automatisée (c’est-à-dire c’est une tâche automatisée sans </a:t>
            </a:r>
            <a:r>
              <a:rPr lang="en-GB" sz="2400" dirty="0"/>
              <a:t>intervention humaine).</a:t>
            </a:r>
          </a:p>
        </p:txBody>
      </p:sp>
      <p:sp>
        <p:nvSpPr>
          <p:cNvPr id="4" name="Espace réservé de la date 3">
            <a:extLst>
              <a:ext uri="{FF2B5EF4-FFF2-40B4-BE49-F238E27FC236}">
                <a16:creationId xmlns:a16="http://schemas.microsoft.com/office/drawing/2014/main" id="{6A4420CF-4D94-EDE4-5BB1-8BDED100A3D5}"/>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26594717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A5F73A-2A04-4E71-302B-D5C3165A8775}"/>
              </a:ext>
            </a:extLst>
          </p:cNvPr>
          <p:cNvSpPr>
            <a:spLocks noGrp="1"/>
          </p:cNvSpPr>
          <p:nvPr>
            <p:ph type="title"/>
          </p:nvPr>
        </p:nvSpPr>
        <p:spPr/>
        <p:txBody>
          <a:bodyPr/>
          <a:lstStyle/>
          <a:p>
            <a:r>
              <a:rPr lang="en-GB" dirty="0"/>
              <a:t>Les </a:t>
            </a:r>
            <a:r>
              <a:rPr lang="en-GB" dirty="0" err="1"/>
              <a:t>tâches</a:t>
            </a:r>
            <a:endParaRPr lang="en-GB" dirty="0"/>
          </a:p>
        </p:txBody>
      </p:sp>
      <p:sp>
        <p:nvSpPr>
          <p:cNvPr id="3" name="Espace réservé du contenu 2">
            <a:extLst>
              <a:ext uri="{FF2B5EF4-FFF2-40B4-BE49-F238E27FC236}">
                <a16:creationId xmlns:a16="http://schemas.microsoft.com/office/drawing/2014/main" id="{D584BA51-C211-2440-1442-D21521948E80}"/>
              </a:ext>
            </a:extLst>
          </p:cNvPr>
          <p:cNvSpPr>
            <a:spLocks noGrp="1"/>
          </p:cNvSpPr>
          <p:nvPr>
            <p:ph idx="1"/>
          </p:nvPr>
        </p:nvSpPr>
        <p:spPr/>
        <p:txBody>
          <a:bodyPr/>
          <a:lstStyle/>
          <a:p>
            <a:r>
              <a:rPr lang="fr-FR" sz="2000" dirty="0"/>
              <a:t>– Tâche script : une tâche de script est exécutée par un moteur de processus métiers. Le modélisateur ou l’</a:t>
            </a:r>
            <a:r>
              <a:rPr lang="fr-FR" sz="2000" dirty="0" err="1"/>
              <a:t>implémenteur</a:t>
            </a:r>
            <a:r>
              <a:rPr lang="fr-FR" sz="2000" dirty="0"/>
              <a:t> définit un script dans une langue que le moteur peut l’interpréter lorsque la tâche est prête à démarrer, le moteur exécutera le script, lorsque le script est terminé, la tâche sera également </a:t>
            </a:r>
            <a:r>
              <a:rPr lang="en-GB" sz="2000" dirty="0" err="1"/>
              <a:t>complétée</a:t>
            </a:r>
            <a:r>
              <a:rPr lang="en-GB" sz="2000" dirty="0"/>
              <a:t>.</a:t>
            </a:r>
          </a:p>
          <a:p>
            <a:r>
              <a:rPr lang="fr-FR" sz="2000" dirty="0"/>
              <a:t>– Tâche règle de gestion : elle représente l’envoie d’une entrée dans un moteur de règles de gestion et la réception du résultat du calcul effectué par ce moteur.</a:t>
            </a:r>
            <a:endParaRPr lang="en-GB" sz="2000" dirty="0"/>
          </a:p>
          <a:p>
            <a:endParaRPr lang="en-GB" sz="2000" dirty="0"/>
          </a:p>
          <a:p>
            <a:endParaRPr lang="en-GB" dirty="0"/>
          </a:p>
        </p:txBody>
      </p:sp>
      <p:sp>
        <p:nvSpPr>
          <p:cNvPr id="4" name="Espace réservé de la date 3">
            <a:extLst>
              <a:ext uri="{FF2B5EF4-FFF2-40B4-BE49-F238E27FC236}">
                <a16:creationId xmlns:a16="http://schemas.microsoft.com/office/drawing/2014/main" id="{2060B2BE-58E1-0FD8-F142-15DF9DF80431}"/>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38428027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6B04D8-B30D-FD4C-83DC-28E3C0EB69CE}"/>
              </a:ext>
            </a:extLst>
          </p:cNvPr>
          <p:cNvSpPr>
            <a:spLocks noGrp="1"/>
          </p:cNvSpPr>
          <p:nvPr>
            <p:ph type="title"/>
          </p:nvPr>
        </p:nvSpPr>
        <p:spPr/>
        <p:txBody>
          <a:bodyPr/>
          <a:lstStyle/>
          <a:p>
            <a:r>
              <a:rPr lang="en-GB" dirty="0"/>
              <a:t>Les sous-processus et </a:t>
            </a:r>
            <a:r>
              <a:rPr lang="en-GB" dirty="0" err="1"/>
              <a:t>activité</a:t>
            </a:r>
            <a:r>
              <a:rPr lang="en-GB" dirty="0"/>
              <a:t> </a:t>
            </a:r>
            <a:r>
              <a:rPr lang="en-GB" dirty="0" err="1"/>
              <a:t>d’appel</a:t>
            </a:r>
            <a:endParaRPr lang="en-GB" dirty="0"/>
          </a:p>
        </p:txBody>
      </p:sp>
      <p:sp>
        <p:nvSpPr>
          <p:cNvPr id="3" name="Espace réservé du contenu 2">
            <a:extLst>
              <a:ext uri="{FF2B5EF4-FFF2-40B4-BE49-F238E27FC236}">
                <a16:creationId xmlns:a16="http://schemas.microsoft.com/office/drawing/2014/main" id="{086C3BB9-E368-72DF-FBA2-17C590F6FC50}"/>
              </a:ext>
            </a:extLst>
          </p:cNvPr>
          <p:cNvSpPr>
            <a:spLocks noGrp="1"/>
          </p:cNvSpPr>
          <p:nvPr>
            <p:ph idx="1"/>
          </p:nvPr>
        </p:nvSpPr>
        <p:spPr/>
        <p:txBody>
          <a:bodyPr>
            <a:normAutofit/>
          </a:bodyPr>
          <a:lstStyle/>
          <a:p>
            <a:pPr>
              <a:buClr>
                <a:schemeClr val="tx1"/>
              </a:buClr>
              <a:buFont typeface="Arial" panose="020B0604020202020204" pitchFamily="34" charset="0"/>
              <a:buChar char="•"/>
            </a:pPr>
            <a:r>
              <a:rPr lang="fr-FR" sz="2400" dirty="0"/>
              <a:t>  Sous-processus : est une activité qui est non atomique (composée), elle est représentée par une tâche avec un petit + permettant d’accéder au détail. Le sous-processus est la manière de définir des abstractions et de choisir la granularité de l’information représentée. Cela peut aussi être utilisé pour définir un contexte de traitement pour </a:t>
            </a:r>
            <a:r>
              <a:rPr lang="en-GB" sz="2400" dirty="0"/>
              <a:t>la gestion des exceptions.</a:t>
            </a:r>
          </a:p>
          <a:p>
            <a:r>
              <a:rPr lang="fr-FR" sz="2400" dirty="0"/>
              <a:t>• Activité d’appel : Les activités d’appel ou « call </a:t>
            </a:r>
            <a:r>
              <a:rPr lang="fr-FR" sz="2400" dirty="0" err="1"/>
              <a:t>activity</a:t>
            </a:r>
            <a:r>
              <a:rPr lang="fr-FR" sz="2400" dirty="0"/>
              <a:t> », permettent à un processus de fournir un lien vers les activités réutilisables qui sont : les sous-processus </a:t>
            </a:r>
            <a:r>
              <a:rPr lang="en-GB" sz="2400" dirty="0"/>
              <a:t>et les taches.</a:t>
            </a:r>
          </a:p>
        </p:txBody>
      </p:sp>
      <p:sp>
        <p:nvSpPr>
          <p:cNvPr id="4" name="Espace réservé de la date 3">
            <a:extLst>
              <a:ext uri="{FF2B5EF4-FFF2-40B4-BE49-F238E27FC236}">
                <a16:creationId xmlns:a16="http://schemas.microsoft.com/office/drawing/2014/main" id="{8EEBBF89-2DE8-EB7C-83BF-062E8CC6BE19}"/>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pic>
        <p:nvPicPr>
          <p:cNvPr id="6" name="Image 5">
            <a:extLst>
              <a:ext uri="{FF2B5EF4-FFF2-40B4-BE49-F238E27FC236}">
                <a16:creationId xmlns:a16="http://schemas.microsoft.com/office/drawing/2014/main" id="{E2CF3608-8438-D0C0-E8F7-E1C9F8C73ACE}"/>
              </a:ext>
            </a:extLst>
          </p:cNvPr>
          <p:cNvPicPr>
            <a:picLocks noChangeAspect="1"/>
          </p:cNvPicPr>
          <p:nvPr/>
        </p:nvPicPr>
        <p:blipFill>
          <a:blip r:embed="rId2"/>
          <a:stretch>
            <a:fillRect/>
          </a:stretch>
        </p:blipFill>
        <p:spPr>
          <a:xfrm>
            <a:off x="3653742" y="2479876"/>
            <a:ext cx="4884516" cy="1898248"/>
          </a:xfrm>
          <a:prstGeom prst="rect">
            <a:avLst/>
          </a:prstGeom>
        </p:spPr>
      </p:pic>
    </p:spTree>
    <p:extLst>
      <p:ext uri="{BB962C8B-B14F-4D97-AF65-F5344CB8AC3E}">
        <p14:creationId xmlns:p14="http://schemas.microsoft.com/office/powerpoint/2010/main" val="1329419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27ADE6-843F-46EE-38F8-0CE540E7AF62}"/>
              </a:ext>
            </a:extLst>
          </p:cNvPr>
          <p:cNvSpPr>
            <a:spLocks noGrp="1"/>
          </p:cNvSpPr>
          <p:nvPr>
            <p:ph type="title"/>
          </p:nvPr>
        </p:nvSpPr>
        <p:spPr/>
        <p:txBody>
          <a:bodyPr/>
          <a:lstStyle/>
          <a:p>
            <a:r>
              <a:rPr lang="en-GB" dirty="0"/>
              <a:t>Les </a:t>
            </a:r>
            <a:r>
              <a:rPr lang="en-GB" dirty="0" err="1"/>
              <a:t>événements</a:t>
            </a:r>
            <a:endParaRPr lang="en-GB" dirty="0"/>
          </a:p>
        </p:txBody>
      </p:sp>
      <p:sp>
        <p:nvSpPr>
          <p:cNvPr id="3" name="Espace réservé du contenu 2">
            <a:extLst>
              <a:ext uri="{FF2B5EF4-FFF2-40B4-BE49-F238E27FC236}">
                <a16:creationId xmlns:a16="http://schemas.microsoft.com/office/drawing/2014/main" id="{A8CCC3AC-BACE-885C-0CCF-06FA1A2D17CA}"/>
              </a:ext>
            </a:extLst>
          </p:cNvPr>
          <p:cNvSpPr>
            <a:spLocks noGrp="1"/>
          </p:cNvSpPr>
          <p:nvPr>
            <p:ph idx="1"/>
          </p:nvPr>
        </p:nvSpPr>
        <p:spPr>
          <a:xfrm>
            <a:off x="522514" y="2108201"/>
            <a:ext cx="10633166" cy="3760891"/>
          </a:xfrm>
        </p:spPr>
        <p:txBody>
          <a:bodyPr>
            <a:normAutofit/>
          </a:bodyPr>
          <a:lstStyle/>
          <a:p>
            <a:r>
              <a:rPr lang="fr-FR" sz="2800" dirty="0"/>
              <a:t>Sont représentés par des cercles, ils correspondent à une action qui survient durant le processus. Ils ont en général une cause et une conséquence. Il existe trois catégories d’événements : de début, intermédiaire et de fin.</a:t>
            </a:r>
            <a:endParaRPr lang="en-GB" sz="2800" dirty="0"/>
          </a:p>
        </p:txBody>
      </p:sp>
      <p:sp>
        <p:nvSpPr>
          <p:cNvPr id="4" name="Espace réservé de la date 3">
            <a:extLst>
              <a:ext uri="{FF2B5EF4-FFF2-40B4-BE49-F238E27FC236}">
                <a16:creationId xmlns:a16="http://schemas.microsoft.com/office/drawing/2014/main" id="{57426CE1-8B72-E4C0-CCA4-C143C3163E3E}"/>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pic>
        <p:nvPicPr>
          <p:cNvPr id="6" name="Image 5">
            <a:extLst>
              <a:ext uri="{FF2B5EF4-FFF2-40B4-BE49-F238E27FC236}">
                <a16:creationId xmlns:a16="http://schemas.microsoft.com/office/drawing/2014/main" id="{6477C719-CA81-7417-E9DC-DAA4CA0A3373}"/>
              </a:ext>
            </a:extLst>
          </p:cNvPr>
          <p:cNvPicPr>
            <a:picLocks noChangeAspect="1"/>
          </p:cNvPicPr>
          <p:nvPr/>
        </p:nvPicPr>
        <p:blipFill>
          <a:blip r:embed="rId2"/>
          <a:stretch>
            <a:fillRect/>
          </a:stretch>
        </p:blipFill>
        <p:spPr>
          <a:xfrm>
            <a:off x="2999998" y="4364383"/>
            <a:ext cx="4838218" cy="1504709"/>
          </a:xfrm>
          <a:prstGeom prst="rect">
            <a:avLst/>
          </a:prstGeom>
        </p:spPr>
      </p:pic>
    </p:spTree>
    <p:extLst>
      <p:ext uri="{BB962C8B-B14F-4D97-AF65-F5344CB8AC3E}">
        <p14:creationId xmlns:p14="http://schemas.microsoft.com/office/powerpoint/2010/main" val="16074223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ABAFCED-9EFF-C8BF-3A56-67FD7F965DCE}"/>
              </a:ext>
            </a:extLst>
          </p:cNvPr>
          <p:cNvSpPr>
            <a:spLocks noGrp="1"/>
          </p:cNvSpPr>
          <p:nvPr>
            <p:ph idx="1"/>
          </p:nvPr>
        </p:nvSpPr>
        <p:spPr>
          <a:xfrm>
            <a:off x="479763" y="331207"/>
            <a:ext cx="11459688" cy="5368949"/>
          </a:xfrm>
          <a:solidFill>
            <a:schemeClr val="bg1"/>
          </a:solidFill>
        </p:spPr>
        <p:txBody>
          <a:bodyPr>
            <a:noAutofit/>
          </a:bodyPr>
          <a:lstStyle/>
          <a:p>
            <a:r>
              <a:rPr lang="fr-FR" sz="2400" dirty="0"/>
              <a:t>• Les événements de début : représenté par un cercle avec une seule ligne mince, il déclenche une nouvelle instance de processus où un processus peut avoir plus d’un événement de démarrage, mais un sous-processus d’événement n’a qu’un événement </a:t>
            </a:r>
            <a:r>
              <a:rPr lang="en-GB" sz="2400" dirty="0"/>
              <a:t>de début.</a:t>
            </a:r>
          </a:p>
          <a:p>
            <a:r>
              <a:rPr lang="fr-FR" sz="2400" dirty="0"/>
              <a:t>• Les événements intermédiaires : représentés par un cercle avec une double ligne mince, ils indiquent une action qui se produit ou peut se produire au cours du processus, entre début et fin. Les événements intermédiaires peuvent être utilisés pour attraper le déclencheur d’événement et peut être dans le flux ou à la limite </a:t>
            </a:r>
            <a:r>
              <a:rPr lang="en-GB" sz="2400" dirty="0" err="1"/>
              <a:t>d’une</a:t>
            </a:r>
            <a:r>
              <a:rPr lang="en-GB" sz="2400" dirty="0"/>
              <a:t> </a:t>
            </a:r>
            <a:r>
              <a:rPr lang="en-GB" sz="2400" dirty="0" err="1"/>
              <a:t>activité</a:t>
            </a:r>
            <a:r>
              <a:rPr lang="en-GB" sz="2400" dirty="0"/>
              <a:t>.</a:t>
            </a:r>
          </a:p>
          <a:p>
            <a:r>
              <a:rPr lang="fr-FR" sz="2400" dirty="0"/>
              <a:t>• Les événements de fin : sont représentés par un cercle avec une seule ligne épaisse, c’est la fin de l’instance de processus. Et la fin des événements n’a pas de flux de </a:t>
            </a:r>
            <a:r>
              <a:rPr lang="en-GB" sz="2400" dirty="0" err="1"/>
              <a:t>séquence</a:t>
            </a:r>
            <a:r>
              <a:rPr lang="en-GB" sz="2400" dirty="0"/>
              <a:t> </a:t>
            </a:r>
            <a:r>
              <a:rPr lang="en-GB" sz="2400" dirty="0" err="1"/>
              <a:t>sortante</a:t>
            </a:r>
            <a:r>
              <a:rPr lang="en-GB" sz="2400" dirty="0"/>
              <a:t>.</a:t>
            </a:r>
          </a:p>
        </p:txBody>
      </p:sp>
      <p:sp>
        <p:nvSpPr>
          <p:cNvPr id="4" name="Espace réservé de la date 3">
            <a:extLst>
              <a:ext uri="{FF2B5EF4-FFF2-40B4-BE49-F238E27FC236}">
                <a16:creationId xmlns:a16="http://schemas.microsoft.com/office/drawing/2014/main" id="{4A9B9754-558A-AD89-FF30-70B36705E452}"/>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24127222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428AE85D-D4F0-D454-F986-AE32E2079269}"/>
              </a:ext>
            </a:extLst>
          </p:cNvPr>
          <p:cNvPicPr>
            <a:picLocks noGrp="1" noChangeAspect="1"/>
          </p:cNvPicPr>
          <p:nvPr>
            <p:ph idx="1"/>
          </p:nvPr>
        </p:nvPicPr>
        <p:blipFill>
          <a:blip r:embed="rId2"/>
          <a:stretch>
            <a:fillRect/>
          </a:stretch>
        </p:blipFill>
        <p:spPr>
          <a:xfrm>
            <a:off x="2054431" y="237505"/>
            <a:ext cx="6008914" cy="6483929"/>
          </a:xfrm>
          <a:prstGeom prst="rect">
            <a:avLst/>
          </a:prstGeom>
        </p:spPr>
      </p:pic>
      <p:sp>
        <p:nvSpPr>
          <p:cNvPr id="4" name="Espace réservé de la date 3">
            <a:extLst>
              <a:ext uri="{FF2B5EF4-FFF2-40B4-BE49-F238E27FC236}">
                <a16:creationId xmlns:a16="http://schemas.microsoft.com/office/drawing/2014/main" id="{9059AC92-C64F-AB2F-2ACE-337D54879967}"/>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1056028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30C863-3DEF-EEE2-03BD-4D59A3F5F957}"/>
              </a:ext>
            </a:extLst>
          </p:cNvPr>
          <p:cNvSpPr>
            <a:spLocks noGrp="1"/>
          </p:cNvSpPr>
          <p:nvPr>
            <p:ph type="title"/>
          </p:nvPr>
        </p:nvSpPr>
        <p:spPr/>
        <p:txBody>
          <a:bodyPr/>
          <a:lstStyle/>
          <a:p>
            <a:r>
              <a:rPr lang="en-GB" dirty="0"/>
              <a:t>Les </a:t>
            </a:r>
            <a:r>
              <a:rPr lang="en-GB" dirty="0" err="1"/>
              <a:t>événements</a:t>
            </a:r>
            <a:endParaRPr lang="en-GB" dirty="0"/>
          </a:p>
        </p:txBody>
      </p:sp>
      <p:sp>
        <p:nvSpPr>
          <p:cNvPr id="3" name="Espace réservé du contenu 2">
            <a:extLst>
              <a:ext uri="{FF2B5EF4-FFF2-40B4-BE49-F238E27FC236}">
                <a16:creationId xmlns:a16="http://schemas.microsoft.com/office/drawing/2014/main" id="{3D17A050-113E-9096-0398-A27DFFDF72CE}"/>
              </a:ext>
            </a:extLst>
          </p:cNvPr>
          <p:cNvSpPr>
            <a:spLocks noGrp="1"/>
          </p:cNvSpPr>
          <p:nvPr>
            <p:ph idx="1"/>
          </p:nvPr>
        </p:nvSpPr>
        <p:spPr/>
        <p:txBody>
          <a:bodyPr>
            <a:noAutofit/>
          </a:bodyPr>
          <a:lstStyle/>
          <a:p>
            <a:r>
              <a:rPr lang="fr-FR" sz="2400" dirty="0"/>
              <a:t>• L’évènement de message : un message est un moyen spécifique de transmission de données d’un processus à l’autre. Le type message signifie l’envoi ou la réception </a:t>
            </a:r>
            <a:r>
              <a:rPr lang="en-GB" sz="2400" dirty="0"/>
              <a:t>d’un message.</a:t>
            </a:r>
          </a:p>
          <a:p>
            <a:r>
              <a:rPr lang="fr-FR" sz="2400" dirty="0"/>
              <a:t>• L’évènement de minuterie : un événement de minuterie utilisé pour signifier l’attente d’une condition de temps spécifique pour se déclencher, qui va lancer un processus un événement ou un Sous-processus.</a:t>
            </a:r>
          </a:p>
          <a:p>
            <a:r>
              <a:rPr lang="fr-FR" sz="2400" dirty="0"/>
              <a:t>• L’évènement d’escalade : les événements d’escalade sont des événements qui font référence à une escalade nommée. Ils sont principalement utilisés pour communiquer d’un sous-processus à un processus supérieur.</a:t>
            </a:r>
          </a:p>
          <a:p>
            <a:endParaRPr lang="fr-FR" sz="2400" dirty="0"/>
          </a:p>
        </p:txBody>
      </p:sp>
      <p:sp>
        <p:nvSpPr>
          <p:cNvPr id="4" name="Espace réservé de la date 3">
            <a:extLst>
              <a:ext uri="{FF2B5EF4-FFF2-40B4-BE49-F238E27FC236}">
                <a16:creationId xmlns:a16="http://schemas.microsoft.com/office/drawing/2014/main" id="{51BC5926-AFC8-5D51-9301-3BA07B4B46BC}"/>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38177572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8BF3B4-22B7-500A-4773-C24A14C09BAD}"/>
              </a:ext>
            </a:extLst>
          </p:cNvPr>
          <p:cNvSpPr>
            <a:spLocks noGrp="1"/>
          </p:cNvSpPr>
          <p:nvPr>
            <p:ph type="title"/>
          </p:nvPr>
        </p:nvSpPr>
        <p:spPr/>
        <p:txBody>
          <a:bodyPr/>
          <a:lstStyle/>
          <a:p>
            <a:r>
              <a:rPr lang="en-GB" dirty="0"/>
              <a:t>Les </a:t>
            </a:r>
            <a:r>
              <a:rPr lang="en-GB" dirty="0" err="1"/>
              <a:t>événements</a:t>
            </a:r>
            <a:endParaRPr lang="en-GB" dirty="0"/>
          </a:p>
        </p:txBody>
      </p:sp>
      <p:sp>
        <p:nvSpPr>
          <p:cNvPr id="3" name="Espace réservé du contenu 2">
            <a:extLst>
              <a:ext uri="{FF2B5EF4-FFF2-40B4-BE49-F238E27FC236}">
                <a16:creationId xmlns:a16="http://schemas.microsoft.com/office/drawing/2014/main" id="{5F026D67-82CE-E129-4722-6C323C952FDC}"/>
              </a:ext>
            </a:extLst>
          </p:cNvPr>
          <p:cNvSpPr>
            <a:spLocks noGrp="1"/>
          </p:cNvSpPr>
          <p:nvPr>
            <p:ph idx="1"/>
          </p:nvPr>
        </p:nvSpPr>
        <p:spPr/>
        <p:txBody>
          <a:bodyPr>
            <a:normAutofit/>
          </a:bodyPr>
          <a:lstStyle/>
          <a:p>
            <a:r>
              <a:rPr lang="fr-FR" sz="2400" dirty="0"/>
              <a:t>• L’évènement de condition : ce type d’événement est déclenché lorsqu’une condition devient vraie. Une condition est un type d’expression.</a:t>
            </a:r>
          </a:p>
          <a:p>
            <a:r>
              <a:rPr lang="fr-FR" sz="2400" dirty="0"/>
              <a:t>• L’évènement de lien : les évènements de type « lien » permettent de découper un processus qui est devenu trop long en plusieurs parties. Les objets liens pourront être attachés un à un. Cela permet d’éviter de surcharger un processus.</a:t>
            </a:r>
          </a:p>
          <a:p>
            <a:r>
              <a:rPr lang="fr-FR" sz="2400" dirty="0"/>
              <a:t>• L’évènement d’erreur : utilisées pour signaler une erreur dans le processus et interrompt le processus ou le sous-processus en cours.</a:t>
            </a:r>
            <a:endParaRPr lang="en-GB" sz="2400" dirty="0"/>
          </a:p>
          <a:p>
            <a:endParaRPr lang="en-GB" dirty="0"/>
          </a:p>
        </p:txBody>
      </p:sp>
      <p:sp>
        <p:nvSpPr>
          <p:cNvPr id="4" name="Espace réservé de la date 3">
            <a:extLst>
              <a:ext uri="{FF2B5EF4-FFF2-40B4-BE49-F238E27FC236}">
                <a16:creationId xmlns:a16="http://schemas.microsoft.com/office/drawing/2014/main" id="{0CDB41B4-D94A-D733-A02F-AF251166EB68}"/>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5015496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D771F3-593C-4E9C-6FAD-5005238CF4E3}"/>
              </a:ext>
            </a:extLst>
          </p:cNvPr>
          <p:cNvSpPr>
            <a:spLocks noGrp="1"/>
          </p:cNvSpPr>
          <p:nvPr>
            <p:ph type="title"/>
          </p:nvPr>
        </p:nvSpPr>
        <p:spPr/>
        <p:txBody>
          <a:bodyPr/>
          <a:lstStyle/>
          <a:p>
            <a:r>
              <a:rPr lang="en-GB" dirty="0"/>
              <a:t>Les </a:t>
            </a:r>
            <a:r>
              <a:rPr lang="en-GB" dirty="0" err="1"/>
              <a:t>événements</a:t>
            </a:r>
            <a:endParaRPr lang="en-GB" dirty="0"/>
          </a:p>
        </p:txBody>
      </p:sp>
      <p:sp>
        <p:nvSpPr>
          <p:cNvPr id="3" name="Espace réservé du contenu 2">
            <a:extLst>
              <a:ext uri="{FF2B5EF4-FFF2-40B4-BE49-F238E27FC236}">
                <a16:creationId xmlns:a16="http://schemas.microsoft.com/office/drawing/2014/main" id="{A3007A74-D611-FFE3-CEB3-B8BEADC0C671}"/>
              </a:ext>
            </a:extLst>
          </p:cNvPr>
          <p:cNvSpPr>
            <a:spLocks noGrp="1"/>
          </p:cNvSpPr>
          <p:nvPr>
            <p:ph idx="1"/>
          </p:nvPr>
        </p:nvSpPr>
        <p:spPr/>
        <p:txBody>
          <a:bodyPr>
            <a:noAutofit/>
          </a:bodyPr>
          <a:lstStyle/>
          <a:p>
            <a:r>
              <a:rPr lang="fr-FR" sz="2400" dirty="0"/>
              <a:t>• L’évènement d’annulation : signale la fin du processus et annule les transactions </a:t>
            </a:r>
            <a:r>
              <a:rPr lang="en-GB" sz="2400" dirty="0" err="1"/>
              <a:t>en</a:t>
            </a:r>
            <a:r>
              <a:rPr lang="en-GB" sz="2400" dirty="0"/>
              <a:t> </a:t>
            </a:r>
            <a:r>
              <a:rPr lang="en-GB" sz="2400" dirty="0" err="1"/>
              <a:t>cours</a:t>
            </a:r>
            <a:r>
              <a:rPr lang="en-GB" sz="2400" dirty="0"/>
              <a:t>.</a:t>
            </a:r>
          </a:p>
          <a:p>
            <a:r>
              <a:rPr lang="fr-FR" sz="2400" dirty="0"/>
              <a:t>• L’évènement de compensation : signale qu’une tâche doit être annulée. Ce type d’évènement permet de définir la tâche qui doit être utilisée pour compenser une </a:t>
            </a:r>
            <a:r>
              <a:rPr lang="en-GB" sz="2400" dirty="0" err="1"/>
              <a:t>tâche</a:t>
            </a:r>
            <a:r>
              <a:rPr lang="en-GB" sz="2400" dirty="0"/>
              <a:t> </a:t>
            </a:r>
            <a:r>
              <a:rPr lang="en-GB" sz="2400" dirty="0" err="1"/>
              <a:t>particulière</a:t>
            </a:r>
            <a:r>
              <a:rPr lang="en-GB" sz="2400" dirty="0"/>
              <a:t>.</a:t>
            </a:r>
          </a:p>
          <a:p>
            <a:r>
              <a:rPr lang="fr-FR" sz="2400" dirty="0"/>
              <a:t>• L’évènement de signal : les événements de signal sont utilisés pour indiquer l’envoi ou la réception d’un signal.</a:t>
            </a:r>
            <a:endParaRPr lang="en-GB" sz="2400" dirty="0"/>
          </a:p>
        </p:txBody>
      </p:sp>
      <p:sp>
        <p:nvSpPr>
          <p:cNvPr id="4" name="Espace réservé de la date 3">
            <a:extLst>
              <a:ext uri="{FF2B5EF4-FFF2-40B4-BE49-F238E27FC236}">
                <a16:creationId xmlns:a16="http://schemas.microsoft.com/office/drawing/2014/main" id="{070F65B3-C421-433A-7250-0B3B4ED1223C}"/>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104921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F6641A-3B51-9C51-ED76-82B01E1EFC2A}"/>
              </a:ext>
            </a:extLst>
          </p:cNvPr>
          <p:cNvSpPr>
            <a:spLocks noGrp="1"/>
          </p:cNvSpPr>
          <p:nvPr>
            <p:ph type="title"/>
          </p:nvPr>
        </p:nvSpPr>
        <p:spPr/>
        <p:txBody>
          <a:bodyPr/>
          <a:lstStyle/>
          <a:p>
            <a:r>
              <a:rPr lang="en-GB" dirty="0"/>
              <a:t>Les </a:t>
            </a:r>
            <a:r>
              <a:rPr lang="en-GB" dirty="0" err="1"/>
              <a:t>événements</a:t>
            </a:r>
            <a:endParaRPr lang="en-GB" dirty="0"/>
          </a:p>
        </p:txBody>
      </p:sp>
      <p:sp>
        <p:nvSpPr>
          <p:cNvPr id="3" name="Espace réservé du contenu 2">
            <a:extLst>
              <a:ext uri="{FF2B5EF4-FFF2-40B4-BE49-F238E27FC236}">
                <a16:creationId xmlns:a16="http://schemas.microsoft.com/office/drawing/2014/main" id="{CA49A9FF-F89D-F062-CB59-E7DBD55EC20B}"/>
              </a:ext>
            </a:extLst>
          </p:cNvPr>
          <p:cNvSpPr>
            <a:spLocks noGrp="1"/>
          </p:cNvSpPr>
          <p:nvPr>
            <p:ph idx="1"/>
          </p:nvPr>
        </p:nvSpPr>
        <p:spPr/>
        <p:txBody>
          <a:bodyPr>
            <a:normAutofit/>
          </a:bodyPr>
          <a:lstStyle/>
          <a:p>
            <a:r>
              <a:rPr lang="fr-FR" sz="2400" dirty="0"/>
              <a:t>• L’évènement multiple : le type multiple est utilisé afin de lancer ou recevoir un des </a:t>
            </a:r>
            <a:r>
              <a:rPr lang="en-GB" sz="2400" dirty="0" err="1"/>
              <a:t>déclencheurs</a:t>
            </a:r>
            <a:r>
              <a:rPr lang="en-GB" sz="2400" dirty="0"/>
              <a:t> </a:t>
            </a:r>
            <a:r>
              <a:rPr lang="en-GB" sz="2400" dirty="0" err="1"/>
              <a:t>associés</a:t>
            </a:r>
            <a:r>
              <a:rPr lang="en-GB" sz="2400" dirty="0"/>
              <a:t> à </a:t>
            </a:r>
            <a:r>
              <a:rPr lang="en-GB" sz="2400" dirty="0" err="1"/>
              <a:t>l’événement</a:t>
            </a:r>
            <a:r>
              <a:rPr lang="en-GB" sz="2400" dirty="0"/>
              <a:t>.</a:t>
            </a:r>
          </a:p>
          <a:p>
            <a:r>
              <a:rPr lang="fr-FR" sz="2400" dirty="0"/>
              <a:t>• L’évènement multiple parallèle : le type multiplicité parallèle signifie que toutes les conditions associées à l’événement doivent se produire afin de déclencher l’événement.</a:t>
            </a:r>
          </a:p>
          <a:p>
            <a:r>
              <a:rPr lang="fr-FR" sz="2400" dirty="0"/>
              <a:t>• L’évènement de terminaison : est l’événement « stop </a:t>
            </a:r>
            <a:r>
              <a:rPr lang="fr-FR" sz="2400" dirty="0" err="1"/>
              <a:t>everything</a:t>
            </a:r>
            <a:r>
              <a:rPr lang="fr-FR" sz="2400" dirty="0"/>
              <a:t> », lorsqu’un événement de fin de session est atteint, la totalité le processus est arrêté.</a:t>
            </a:r>
            <a:endParaRPr lang="en-GB" sz="2400" dirty="0"/>
          </a:p>
          <a:p>
            <a:endParaRPr lang="en-GB" dirty="0"/>
          </a:p>
        </p:txBody>
      </p:sp>
      <p:sp>
        <p:nvSpPr>
          <p:cNvPr id="4" name="Espace réservé de la date 3">
            <a:extLst>
              <a:ext uri="{FF2B5EF4-FFF2-40B4-BE49-F238E27FC236}">
                <a16:creationId xmlns:a16="http://schemas.microsoft.com/office/drawing/2014/main" id="{0AEF3D32-F8BE-53F0-F75E-D6F50DAFD2F7}"/>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28378459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73D991-C5B0-CAF8-2E74-854913DA3B48}"/>
              </a:ext>
            </a:extLst>
          </p:cNvPr>
          <p:cNvSpPr>
            <a:spLocks noGrp="1"/>
          </p:cNvSpPr>
          <p:nvPr>
            <p:ph type="title"/>
          </p:nvPr>
        </p:nvSpPr>
        <p:spPr/>
        <p:txBody>
          <a:bodyPr/>
          <a:lstStyle/>
          <a:p>
            <a:r>
              <a:rPr lang="en-GB" dirty="0"/>
              <a:t>Les </a:t>
            </a:r>
            <a:r>
              <a:rPr lang="en-GB" dirty="0" err="1"/>
              <a:t>passerelles</a:t>
            </a:r>
            <a:endParaRPr lang="en-GB" dirty="0"/>
          </a:p>
        </p:txBody>
      </p:sp>
      <p:sp>
        <p:nvSpPr>
          <p:cNvPr id="3" name="Espace réservé du contenu 2">
            <a:extLst>
              <a:ext uri="{FF2B5EF4-FFF2-40B4-BE49-F238E27FC236}">
                <a16:creationId xmlns:a16="http://schemas.microsoft.com/office/drawing/2014/main" id="{74EA513E-C1FC-DE81-A0D3-717B3FEF86FB}"/>
              </a:ext>
            </a:extLst>
          </p:cNvPr>
          <p:cNvSpPr>
            <a:spLocks noGrp="1"/>
          </p:cNvSpPr>
          <p:nvPr>
            <p:ph idx="1"/>
          </p:nvPr>
        </p:nvSpPr>
        <p:spPr/>
        <p:txBody>
          <a:bodyPr>
            <a:normAutofit/>
          </a:bodyPr>
          <a:lstStyle/>
          <a:p>
            <a:r>
              <a:rPr lang="fr-FR" sz="2400" dirty="0"/>
              <a:t>Les passerelles ou les branchements "</a:t>
            </a:r>
            <a:r>
              <a:rPr lang="fr-FR" sz="2400" dirty="0" err="1"/>
              <a:t>Gateways</a:t>
            </a:r>
            <a:r>
              <a:rPr lang="fr-FR" sz="2400" dirty="0"/>
              <a:t>" sont représentées par un losange, elles serviront à représenter la condition de routage entre les flux d’entrée et les flux de sortie, les signes internes indiqueront le type de contrôle du comportement du branchement. Les différents branchements possibles sont :</a:t>
            </a:r>
          </a:p>
          <a:p>
            <a:endParaRPr lang="en-GB" sz="2400" dirty="0"/>
          </a:p>
        </p:txBody>
      </p:sp>
      <p:sp>
        <p:nvSpPr>
          <p:cNvPr id="4" name="Espace réservé de la date 3">
            <a:extLst>
              <a:ext uri="{FF2B5EF4-FFF2-40B4-BE49-F238E27FC236}">
                <a16:creationId xmlns:a16="http://schemas.microsoft.com/office/drawing/2014/main" id="{66FA77D5-F734-CB41-F541-81521F154A51}"/>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pic>
        <p:nvPicPr>
          <p:cNvPr id="6" name="Image 5">
            <a:extLst>
              <a:ext uri="{FF2B5EF4-FFF2-40B4-BE49-F238E27FC236}">
                <a16:creationId xmlns:a16="http://schemas.microsoft.com/office/drawing/2014/main" id="{D226B9AA-AF09-4191-ECF7-820F63000A34}"/>
              </a:ext>
            </a:extLst>
          </p:cNvPr>
          <p:cNvPicPr>
            <a:picLocks noChangeAspect="1"/>
          </p:cNvPicPr>
          <p:nvPr/>
        </p:nvPicPr>
        <p:blipFill>
          <a:blip r:embed="rId2"/>
          <a:stretch>
            <a:fillRect/>
          </a:stretch>
        </p:blipFill>
        <p:spPr>
          <a:xfrm>
            <a:off x="1944447" y="4407713"/>
            <a:ext cx="7685590" cy="1458410"/>
          </a:xfrm>
          <a:prstGeom prst="rect">
            <a:avLst/>
          </a:prstGeom>
        </p:spPr>
      </p:pic>
    </p:spTree>
    <p:extLst>
      <p:ext uri="{BB962C8B-B14F-4D97-AF65-F5344CB8AC3E}">
        <p14:creationId xmlns:p14="http://schemas.microsoft.com/office/powerpoint/2010/main" val="26322323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CE85B0-666F-E3F7-1056-5FE4BFE21A0F}"/>
              </a:ext>
            </a:extLst>
          </p:cNvPr>
          <p:cNvSpPr>
            <a:spLocks noGrp="1"/>
          </p:cNvSpPr>
          <p:nvPr>
            <p:ph type="title"/>
          </p:nvPr>
        </p:nvSpPr>
        <p:spPr>
          <a:xfrm>
            <a:off x="1097280" y="286604"/>
            <a:ext cx="10058400" cy="639672"/>
          </a:xfrm>
        </p:spPr>
        <p:txBody>
          <a:bodyPr>
            <a:normAutofit fontScale="90000"/>
          </a:bodyPr>
          <a:lstStyle/>
          <a:p>
            <a:r>
              <a:rPr lang="en-GB" dirty="0"/>
              <a:t>Les </a:t>
            </a:r>
            <a:r>
              <a:rPr lang="en-GB" dirty="0" err="1"/>
              <a:t>passerelles</a:t>
            </a:r>
            <a:endParaRPr lang="en-GB" dirty="0"/>
          </a:p>
        </p:txBody>
      </p:sp>
      <p:sp>
        <p:nvSpPr>
          <p:cNvPr id="3" name="Espace réservé du contenu 2">
            <a:extLst>
              <a:ext uri="{FF2B5EF4-FFF2-40B4-BE49-F238E27FC236}">
                <a16:creationId xmlns:a16="http://schemas.microsoft.com/office/drawing/2014/main" id="{B61CC103-F125-4F38-9CB6-F0D64659733F}"/>
              </a:ext>
            </a:extLst>
          </p:cNvPr>
          <p:cNvSpPr>
            <a:spLocks noGrp="1"/>
          </p:cNvSpPr>
          <p:nvPr>
            <p:ph idx="1"/>
          </p:nvPr>
        </p:nvSpPr>
        <p:spPr>
          <a:xfrm>
            <a:off x="372438" y="1094157"/>
            <a:ext cx="11447124" cy="4669685"/>
          </a:xfrm>
          <a:solidFill>
            <a:schemeClr val="bg1"/>
          </a:solidFill>
        </p:spPr>
        <p:txBody>
          <a:bodyPr>
            <a:noAutofit/>
          </a:bodyPr>
          <a:lstStyle/>
          <a:p>
            <a:r>
              <a:rPr lang="fr-FR" sz="2400" dirty="0"/>
              <a:t>• Exclusive (XOR) : est utilisée pour créer des chemins alternatifs dans un flux de processus. Lors de la scission, dirige le flux vers une branche sortante. Lors de la fusion, attend qu’une branche entrante se termine avant de déclencher le flux de </a:t>
            </a:r>
            <a:r>
              <a:rPr lang="en-GB" sz="2400" dirty="0"/>
              <a:t>sortie.</a:t>
            </a:r>
          </a:p>
          <a:p>
            <a:r>
              <a:rPr lang="fr-FR" sz="2400" dirty="0"/>
              <a:t>• Basée événement : il représente un point de branchement dans le processus où les chemins alternatifs qui suivent base sur un déclenchement d’événement. Un événement spécifique, généralement suivi par des événements de réception ou des tâches de réception et dirige le flux vers ce qui se produit le premier.</a:t>
            </a:r>
          </a:p>
          <a:p>
            <a:r>
              <a:rPr lang="fr-FR" sz="2400" dirty="0"/>
              <a:t>• Inclusive (OR) : peut être utilisée pour créer des chemins alternatifs parallèles. Contrairement à la passerelle exclusive, toutes les expressions de condition sont évaluées. Lors de la scission, active une ou plusieurs branches. Lors de la fusion, attend que toutes les branches entrantes se terminent avant de fusionner.</a:t>
            </a:r>
            <a:endParaRPr lang="en-GB" sz="2400" dirty="0"/>
          </a:p>
        </p:txBody>
      </p:sp>
      <p:sp>
        <p:nvSpPr>
          <p:cNvPr id="4" name="Espace réservé de la date 3">
            <a:extLst>
              <a:ext uri="{FF2B5EF4-FFF2-40B4-BE49-F238E27FC236}">
                <a16:creationId xmlns:a16="http://schemas.microsoft.com/office/drawing/2014/main" id="{984BF0DD-87BF-3E5F-EE50-54D9D84FF834}"/>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31161519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A1294E-B9A2-B9E5-8D93-46BB572592DA}"/>
              </a:ext>
            </a:extLst>
          </p:cNvPr>
          <p:cNvSpPr>
            <a:spLocks noGrp="1"/>
          </p:cNvSpPr>
          <p:nvPr>
            <p:ph type="title"/>
          </p:nvPr>
        </p:nvSpPr>
        <p:spPr/>
        <p:txBody>
          <a:bodyPr/>
          <a:lstStyle/>
          <a:p>
            <a:r>
              <a:rPr lang="en-GB" dirty="0"/>
              <a:t>Les </a:t>
            </a:r>
            <a:r>
              <a:rPr lang="en-GB" dirty="0" err="1"/>
              <a:t>passerelles</a:t>
            </a:r>
            <a:endParaRPr lang="en-GB" dirty="0"/>
          </a:p>
        </p:txBody>
      </p:sp>
      <p:sp>
        <p:nvSpPr>
          <p:cNvPr id="3" name="Espace réservé du contenu 2">
            <a:extLst>
              <a:ext uri="{FF2B5EF4-FFF2-40B4-BE49-F238E27FC236}">
                <a16:creationId xmlns:a16="http://schemas.microsoft.com/office/drawing/2014/main" id="{12923114-4750-C8C3-D721-7CBB1D24E547}"/>
              </a:ext>
            </a:extLst>
          </p:cNvPr>
          <p:cNvSpPr>
            <a:spLocks noGrp="1"/>
          </p:cNvSpPr>
          <p:nvPr>
            <p:ph idx="1"/>
          </p:nvPr>
        </p:nvSpPr>
        <p:spPr/>
        <p:txBody>
          <a:bodyPr/>
          <a:lstStyle/>
          <a:p>
            <a:r>
              <a:rPr lang="fr-FR" dirty="0"/>
              <a:t>• Complexe : un à plusieurs chemins sont choisie, selon la condition de la passerelle.</a:t>
            </a:r>
          </a:p>
          <a:p>
            <a:r>
              <a:rPr lang="fr-FR" dirty="0"/>
              <a:t>• Parallèle (AND) : une passerelle parallèle est utilisée pour synchroniser et créer des flux parallèles. Lors de la scission, active toutes les branches sortantes simultanément.</a:t>
            </a:r>
          </a:p>
          <a:p>
            <a:r>
              <a:rPr lang="fr-FR" dirty="0"/>
              <a:t>Lors de la fusion, attend que toutes les branches entrantes se terminent.</a:t>
            </a:r>
            <a:endParaRPr lang="en-GB" dirty="0"/>
          </a:p>
        </p:txBody>
      </p:sp>
      <p:sp>
        <p:nvSpPr>
          <p:cNvPr id="4" name="Espace réservé de la date 3">
            <a:extLst>
              <a:ext uri="{FF2B5EF4-FFF2-40B4-BE49-F238E27FC236}">
                <a16:creationId xmlns:a16="http://schemas.microsoft.com/office/drawing/2014/main" id="{C8E5717C-4365-EDFC-2A0A-092BD0798D3D}"/>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15361875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D793AA-BCFD-F08F-EAD1-404E3C1BD3C0}"/>
              </a:ext>
            </a:extLst>
          </p:cNvPr>
          <p:cNvSpPr>
            <a:spLocks noGrp="1"/>
          </p:cNvSpPr>
          <p:nvPr>
            <p:ph type="title"/>
          </p:nvPr>
        </p:nvSpPr>
        <p:spPr/>
        <p:txBody>
          <a:bodyPr/>
          <a:lstStyle/>
          <a:p>
            <a:r>
              <a:rPr lang="en-GB" dirty="0"/>
              <a:t>Les </a:t>
            </a:r>
            <a:r>
              <a:rPr lang="en-GB" dirty="0" err="1"/>
              <a:t>objets</a:t>
            </a:r>
            <a:r>
              <a:rPr lang="en-GB" dirty="0"/>
              <a:t> connexion</a:t>
            </a:r>
          </a:p>
        </p:txBody>
      </p:sp>
      <p:sp>
        <p:nvSpPr>
          <p:cNvPr id="3" name="Espace réservé du contenu 2">
            <a:extLst>
              <a:ext uri="{FF2B5EF4-FFF2-40B4-BE49-F238E27FC236}">
                <a16:creationId xmlns:a16="http://schemas.microsoft.com/office/drawing/2014/main" id="{642A2F03-CF32-AD28-37BA-96D137E96992}"/>
              </a:ext>
            </a:extLst>
          </p:cNvPr>
          <p:cNvSpPr>
            <a:spLocks noGrp="1"/>
          </p:cNvSpPr>
          <p:nvPr>
            <p:ph idx="1"/>
          </p:nvPr>
        </p:nvSpPr>
        <p:spPr/>
        <p:txBody>
          <a:bodyPr>
            <a:normAutofit/>
          </a:bodyPr>
          <a:lstStyle/>
          <a:p>
            <a:r>
              <a:rPr lang="fr-FR" sz="2800" dirty="0"/>
              <a:t>sont les éléments graphiques qui permettent de relier les objets de flux les uns aux autres pour représenter le cheminement du processus. Il existe trois types </a:t>
            </a:r>
            <a:r>
              <a:rPr lang="en-GB" sz="2800" dirty="0" err="1"/>
              <a:t>d’objets</a:t>
            </a:r>
            <a:r>
              <a:rPr lang="en-GB" sz="2800" dirty="0"/>
              <a:t> de connexion : Les flux de sequence, les flux de messages, et les associations</a:t>
            </a:r>
          </a:p>
        </p:txBody>
      </p:sp>
      <p:sp>
        <p:nvSpPr>
          <p:cNvPr id="4" name="Espace réservé de la date 3">
            <a:extLst>
              <a:ext uri="{FF2B5EF4-FFF2-40B4-BE49-F238E27FC236}">
                <a16:creationId xmlns:a16="http://schemas.microsoft.com/office/drawing/2014/main" id="{A59726A3-B25D-B93B-EEC2-115B858B629C}"/>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13758055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829DA3-6196-4C12-D804-D46B80DEF36A}"/>
              </a:ext>
            </a:extLst>
          </p:cNvPr>
          <p:cNvSpPr>
            <a:spLocks noGrp="1"/>
          </p:cNvSpPr>
          <p:nvPr>
            <p:ph type="title"/>
          </p:nvPr>
        </p:nvSpPr>
        <p:spPr/>
        <p:txBody>
          <a:bodyPr/>
          <a:lstStyle/>
          <a:p>
            <a:r>
              <a:rPr lang="en-GB" dirty="0"/>
              <a:t>Les flux de </a:t>
            </a:r>
            <a:r>
              <a:rPr lang="en-GB" dirty="0" err="1"/>
              <a:t>séquence</a:t>
            </a:r>
            <a:endParaRPr lang="en-GB" dirty="0"/>
          </a:p>
        </p:txBody>
      </p:sp>
      <p:sp>
        <p:nvSpPr>
          <p:cNvPr id="3" name="Espace réservé du contenu 2">
            <a:extLst>
              <a:ext uri="{FF2B5EF4-FFF2-40B4-BE49-F238E27FC236}">
                <a16:creationId xmlns:a16="http://schemas.microsoft.com/office/drawing/2014/main" id="{C7AE911F-C7F5-DC19-D4B1-3DC303CD2DEE}"/>
              </a:ext>
            </a:extLst>
          </p:cNvPr>
          <p:cNvSpPr>
            <a:spLocks noGrp="1"/>
          </p:cNvSpPr>
          <p:nvPr>
            <p:ph idx="1"/>
          </p:nvPr>
        </p:nvSpPr>
        <p:spPr/>
        <p:txBody>
          <a:bodyPr/>
          <a:lstStyle/>
          <a:p>
            <a:r>
              <a:rPr lang="fr-FR" dirty="0"/>
              <a:t>Sont représentés par une flèche pleine et une ligne solide, qui indiquent l’ordre d’exécution</a:t>
            </a:r>
          </a:p>
          <a:p>
            <a:r>
              <a:rPr lang="fr-FR" dirty="0"/>
              <a:t>des actions (d’événements ou d’activités).</a:t>
            </a:r>
          </a:p>
          <a:p>
            <a:endParaRPr lang="en-GB" dirty="0"/>
          </a:p>
        </p:txBody>
      </p:sp>
      <p:sp>
        <p:nvSpPr>
          <p:cNvPr id="4" name="Espace réservé de la date 3">
            <a:extLst>
              <a:ext uri="{FF2B5EF4-FFF2-40B4-BE49-F238E27FC236}">
                <a16:creationId xmlns:a16="http://schemas.microsoft.com/office/drawing/2014/main" id="{60F54626-1743-3105-4F31-3251B1A00503}"/>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pic>
        <p:nvPicPr>
          <p:cNvPr id="6" name="Image 5">
            <a:extLst>
              <a:ext uri="{FF2B5EF4-FFF2-40B4-BE49-F238E27FC236}">
                <a16:creationId xmlns:a16="http://schemas.microsoft.com/office/drawing/2014/main" id="{FEB267C0-2A4E-733C-618C-401D5FEF5F97}"/>
              </a:ext>
            </a:extLst>
          </p:cNvPr>
          <p:cNvPicPr>
            <a:picLocks noChangeAspect="1"/>
          </p:cNvPicPr>
          <p:nvPr/>
        </p:nvPicPr>
        <p:blipFill>
          <a:blip r:embed="rId2"/>
          <a:stretch>
            <a:fillRect/>
          </a:stretch>
        </p:blipFill>
        <p:spPr>
          <a:xfrm>
            <a:off x="1751098" y="3559629"/>
            <a:ext cx="8689803" cy="1703883"/>
          </a:xfrm>
          <a:prstGeom prst="rect">
            <a:avLst/>
          </a:prstGeom>
        </p:spPr>
      </p:pic>
    </p:spTree>
    <p:extLst>
      <p:ext uri="{BB962C8B-B14F-4D97-AF65-F5344CB8AC3E}">
        <p14:creationId xmlns:p14="http://schemas.microsoft.com/office/powerpoint/2010/main" val="15046268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511663-A8E7-80E5-F0BE-48678AAECB5A}"/>
              </a:ext>
            </a:extLst>
          </p:cNvPr>
          <p:cNvSpPr>
            <a:spLocks noGrp="1"/>
          </p:cNvSpPr>
          <p:nvPr>
            <p:ph type="title"/>
          </p:nvPr>
        </p:nvSpPr>
        <p:spPr>
          <a:xfrm>
            <a:off x="1097280" y="286604"/>
            <a:ext cx="10058400" cy="794052"/>
          </a:xfrm>
        </p:spPr>
        <p:txBody>
          <a:bodyPr/>
          <a:lstStyle/>
          <a:p>
            <a:r>
              <a:rPr lang="en-GB" dirty="0"/>
              <a:t>Les flux de </a:t>
            </a:r>
            <a:r>
              <a:rPr lang="en-GB" dirty="0" err="1"/>
              <a:t>séquence</a:t>
            </a:r>
            <a:endParaRPr lang="en-GB" dirty="0"/>
          </a:p>
        </p:txBody>
      </p:sp>
      <p:sp>
        <p:nvSpPr>
          <p:cNvPr id="3" name="Espace réservé du contenu 2">
            <a:extLst>
              <a:ext uri="{FF2B5EF4-FFF2-40B4-BE49-F238E27FC236}">
                <a16:creationId xmlns:a16="http://schemas.microsoft.com/office/drawing/2014/main" id="{D1147AD8-50A4-F1B7-BC78-5A6A75EC785E}"/>
              </a:ext>
            </a:extLst>
          </p:cNvPr>
          <p:cNvSpPr>
            <a:spLocks noGrp="1"/>
          </p:cNvSpPr>
          <p:nvPr>
            <p:ph idx="1"/>
          </p:nvPr>
        </p:nvSpPr>
        <p:spPr>
          <a:xfrm>
            <a:off x="1097280" y="1080657"/>
            <a:ext cx="10058400" cy="4788436"/>
          </a:xfrm>
          <a:solidFill>
            <a:schemeClr val="bg1"/>
          </a:solidFill>
        </p:spPr>
        <p:txBody>
          <a:bodyPr>
            <a:normAutofit/>
          </a:bodyPr>
          <a:lstStyle/>
          <a:p>
            <a:r>
              <a:rPr lang="fr-FR" dirty="0"/>
              <a:t>– </a:t>
            </a:r>
            <a:r>
              <a:rPr lang="fr-FR" sz="2400" dirty="0"/>
              <a:t>Le flux normal : le flux normal fait référence aux chemins du flux de séquence qui ne commencent pas à partir d’un événement intermédiaire attaché à la limite </a:t>
            </a:r>
            <a:r>
              <a:rPr lang="en-GB" sz="2400" dirty="0" err="1"/>
              <a:t>d’une</a:t>
            </a:r>
            <a:r>
              <a:rPr lang="en-GB" sz="2400" dirty="0"/>
              <a:t> </a:t>
            </a:r>
            <a:r>
              <a:rPr lang="en-GB" sz="2400" dirty="0" err="1"/>
              <a:t>activité</a:t>
            </a:r>
            <a:r>
              <a:rPr lang="en-GB" sz="2400" dirty="0"/>
              <a:t>.</a:t>
            </a:r>
          </a:p>
          <a:p>
            <a:r>
              <a:rPr lang="fr-FR" sz="2400" dirty="0"/>
              <a:t>– Les flux conditionnels : il s’agit d’un flux de séquence unique reliant deux Activités. Il n’est pas affecté par toute condition ou ne passe pas par une passerelle.</a:t>
            </a:r>
          </a:p>
        </p:txBody>
      </p:sp>
      <p:sp>
        <p:nvSpPr>
          <p:cNvPr id="4" name="Espace réservé de la date 3">
            <a:extLst>
              <a:ext uri="{FF2B5EF4-FFF2-40B4-BE49-F238E27FC236}">
                <a16:creationId xmlns:a16="http://schemas.microsoft.com/office/drawing/2014/main" id="{7A90C069-6147-C906-B4D5-CA58086C3C55}"/>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2268142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CE59E6-2D7A-6C60-C855-7DDC0AE5DDA1}"/>
              </a:ext>
            </a:extLst>
          </p:cNvPr>
          <p:cNvSpPr>
            <a:spLocks noGrp="1"/>
          </p:cNvSpPr>
          <p:nvPr>
            <p:ph type="title"/>
          </p:nvPr>
        </p:nvSpPr>
        <p:spPr/>
        <p:txBody>
          <a:bodyPr/>
          <a:lstStyle/>
          <a:p>
            <a:r>
              <a:rPr lang="en-GB" dirty="0"/>
              <a:t>Les flux de </a:t>
            </a:r>
            <a:r>
              <a:rPr lang="en-GB" dirty="0" err="1"/>
              <a:t>séquence</a:t>
            </a:r>
            <a:endParaRPr lang="en-GB" dirty="0"/>
          </a:p>
        </p:txBody>
      </p:sp>
      <p:sp>
        <p:nvSpPr>
          <p:cNvPr id="3" name="Espace réservé du contenu 2">
            <a:extLst>
              <a:ext uri="{FF2B5EF4-FFF2-40B4-BE49-F238E27FC236}">
                <a16:creationId xmlns:a16="http://schemas.microsoft.com/office/drawing/2014/main" id="{1E007D0E-613F-19FE-D5D1-E88B47CDA70A}"/>
              </a:ext>
            </a:extLst>
          </p:cNvPr>
          <p:cNvSpPr>
            <a:spLocks noGrp="1"/>
          </p:cNvSpPr>
          <p:nvPr>
            <p:ph idx="1"/>
          </p:nvPr>
        </p:nvSpPr>
        <p:spPr/>
        <p:txBody>
          <a:bodyPr>
            <a:normAutofit/>
          </a:bodyPr>
          <a:lstStyle/>
          <a:p>
            <a:r>
              <a:rPr lang="fr-FR" sz="2400" dirty="0"/>
              <a:t>– Les flux par défaut : il est employé pour les passerelles exclusives ou inclusives. Ce type de flux sera utilisé uniquement si tous les autres flux conditionnels sortants ne sont pas vrais au moment de l’exécution de processus.</a:t>
            </a:r>
          </a:p>
          <a:p>
            <a:r>
              <a:rPr lang="fr-FR" sz="2400" dirty="0"/>
              <a:t>– Les flux d’exception : le flux d’exception se produit en dehors du flux normal du processus et repose sur un événement intermédiaire fixé à la limite d’une activité qui se produit pendant l’exécution du processus.</a:t>
            </a:r>
            <a:endParaRPr lang="en-GB" sz="2400" dirty="0"/>
          </a:p>
          <a:p>
            <a:endParaRPr lang="en-GB" sz="2400" dirty="0"/>
          </a:p>
        </p:txBody>
      </p:sp>
      <p:sp>
        <p:nvSpPr>
          <p:cNvPr id="4" name="Espace réservé de la date 3">
            <a:extLst>
              <a:ext uri="{FF2B5EF4-FFF2-40B4-BE49-F238E27FC236}">
                <a16:creationId xmlns:a16="http://schemas.microsoft.com/office/drawing/2014/main" id="{583439B2-B95D-8166-07D0-A00217B6E2AB}"/>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6501257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CB287F-05A4-5503-E5F0-3E6BA5C3EFAB}"/>
              </a:ext>
            </a:extLst>
          </p:cNvPr>
          <p:cNvSpPr>
            <a:spLocks noGrp="1"/>
          </p:cNvSpPr>
          <p:nvPr>
            <p:ph type="title"/>
          </p:nvPr>
        </p:nvSpPr>
        <p:spPr/>
        <p:txBody>
          <a:bodyPr/>
          <a:lstStyle/>
          <a:p>
            <a:r>
              <a:rPr lang="en-GB" dirty="0"/>
              <a:t>Les flux de message</a:t>
            </a:r>
          </a:p>
        </p:txBody>
      </p:sp>
      <p:sp>
        <p:nvSpPr>
          <p:cNvPr id="3" name="Espace réservé du contenu 2">
            <a:extLst>
              <a:ext uri="{FF2B5EF4-FFF2-40B4-BE49-F238E27FC236}">
                <a16:creationId xmlns:a16="http://schemas.microsoft.com/office/drawing/2014/main" id="{0A51410A-00C3-8C72-4B0F-6D002DF85C20}"/>
              </a:ext>
            </a:extLst>
          </p:cNvPr>
          <p:cNvSpPr>
            <a:spLocks noGrp="1"/>
          </p:cNvSpPr>
          <p:nvPr>
            <p:ph idx="1"/>
          </p:nvPr>
        </p:nvSpPr>
        <p:spPr/>
        <p:txBody>
          <a:bodyPr>
            <a:normAutofit/>
          </a:bodyPr>
          <a:lstStyle/>
          <a:p>
            <a:r>
              <a:rPr lang="fr-FR" sz="2400" dirty="0"/>
              <a:t>Sont représentés par ligne pointe avec un cercle ouvert au début et une flèche vide à la fin, qui correspond à un lien entre deux processus séparés.</a:t>
            </a:r>
          </a:p>
          <a:p>
            <a:endParaRPr lang="en-GB" sz="2400" dirty="0"/>
          </a:p>
        </p:txBody>
      </p:sp>
      <p:sp>
        <p:nvSpPr>
          <p:cNvPr id="4" name="Espace réservé de la date 3">
            <a:extLst>
              <a:ext uri="{FF2B5EF4-FFF2-40B4-BE49-F238E27FC236}">
                <a16:creationId xmlns:a16="http://schemas.microsoft.com/office/drawing/2014/main" id="{A3C45259-8BA6-A2F7-9F6A-5A33B6AEB0AE}"/>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pic>
        <p:nvPicPr>
          <p:cNvPr id="6" name="Image 5">
            <a:extLst>
              <a:ext uri="{FF2B5EF4-FFF2-40B4-BE49-F238E27FC236}">
                <a16:creationId xmlns:a16="http://schemas.microsoft.com/office/drawing/2014/main" id="{36931F48-12A7-2301-A230-A2189B29E9A5}"/>
              </a:ext>
            </a:extLst>
          </p:cNvPr>
          <p:cNvPicPr>
            <a:picLocks noChangeAspect="1"/>
          </p:cNvPicPr>
          <p:nvPr/>
        </p:nvPicPr>
        <p:blipFill>
          <a:blip r:embed="rId2"/>
          <a:stretch>
            <a:fillRect/>
          </a:stretch>
        </p:blipFill>
        <p:spPr>
          <a:xfrm>
            <a:off x="2609765" y="3763597"/>
            <a:ext cx="5287326" cy="1457791"/>
          </a:xfrm>
          <a:prstGeom prst="rect">
            <a:avLst/>
          </a:prstGeom>
        </p:spPr>
      </p:pic>
    </p:spTree>
    <p:extLst>
      <p:ext uri="{BB962C8B-B14F-4D97-AF65-F5344CB8AC3E}">
        <p14:creationId xmlns:p14="http://schemas.microsoft.com/office/powerpoint/2010/main" val="15818024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4A7F28-453F-CF3D-CDA2-723D7CF174B2}"/>
              </a:ext>
            </a:extLst>
          </p:cNvPr>
          <p:cNvSpPr>
            <a:spLocks noGrp="1"/>
          </p:cNvSpPr>
          <p:nvPr>
            <p:ph type="title"/>
          </p:nvPr>
        </p:nvSpPr>
        <p:spPr/>
        <p:txBody>
          <a:bodyPr/>
          <a:lstStyle/>
          <a:p>
            <a:r>
              <a:rPr lang="en-GB" dirty="0"/>
              <a:t>Les association</a:t>
            </a:r>
          </a:p>
        </p:txBody>
      </p:sp>
      <p:sp>
        <p:nvSpPr>
          <p:cNvPr id="3" name="Espace réservé du contenu 2">
            <a:extLst>
              <a:ext uri="{FF2B5EF4-FFF2-40B4-BE49-F238E27FC236}">
                <a16:creationId xmlns:a16="http://schemas.microsoft.com/office/drawing/2014/main" id="{B5D55D7F-C753-6D81-8AFF-3E7ED8E3D109}"/>
              </a:ext>
            </a:extLst>
          </p:cNvPr>
          <p:cNvSpPr>
            <a:spLocks noGrp="1"/>
          </p:cNvSpPr>
          <p:nvPr>
            <p:ph idx="1"/>
          </p:nvPr>
        </p:nvSpPr>
        <p:spPr/>
        <p:txBody>
          <a:bodyPr>
            <a:normAutofit/>
          </a:bodyPr>
          <a:lstStyle/>
          <a:p>
            <a:r>
              <a:rPr lang="fr-FR" sz="2400" dirty="0"/>
              <a:t>Une association est dessinée avec une seule ligne pointillée, qui permettent de lier des données ou des documents aux objets du processus.</a:t>
            </a:r>
          </a:p>
          <a:p>
            <a:endParaRPr lang="fr-FR" sz="2400" dirty="0"/>
          </a:p>
          <a:p>
            <a:endParaRPr lang="en-GB" sz="2400" dirty="0"/>
          </a:p>
        </p:txBody>
      </p:sp>
      <p:sp>
        <p:nvSpPr>
          <p:cNvPr id="4" name="Espace réservé de la date 3">
            <a:extLst>
              <a:ext uri="{FF2B5EF4-FFF2-40B4-BE49-F238E27FC236}">
                <a16:creationId xmlns:a16="http://schemas.microsoft.com/office/drawing/2014/main" id="{9D2F9F30-BF7A-246F-6B23-9081E6AF45F4}"/>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pic>
        <p:nvPicPr>
          <p:cNvPr id="6" name="Image 5">
            <a:extLst>
              <a:ext uri="{FF2B5EF4-FFF2-40B4-BE49-F238E27FC236}">
                <a16:creationId xmlns:a16="http://schemas.microsoft.com/office/drawing/2014/main" id="{CC05C9F5-9A13-662F-351E-1CEB7D036A28}"/>
              </a:ext>
            </a:extLst>
          </p:cNvPr>
          <p:cNvPicPr>
            <a:picLocks noChangeAspect="1"/>
          </p:cNvPicPr>
          <p:nvPr/>
        </p:nvPicPr>
        <p:blipFill>
          <a:blip r:embed="rId2"/>
          <a:stretch>
            <a:fillRect/>
          </a:stretch>
        </p:blipFill>
        <p:spPr>
          <a:xfrm>
            <a:off x="2455386" y="3298032"/>
            <a:ext cx="6472664" cy="1784606"/>
          </a:xfrm>
          <a:prstGeom prst="rect">
            <a:avLst/>
          </a:prstGeom>
        </p:spPr>
      </p:pic>
    </p:spTree>
    <p:extLst>
      <p:ext uri="{BB962C8B-B14F-4D97-AF65-F5344CB8AC3E}">
        <p14:creationId xmlns:p14="http://schemas.microsoft.com/office/powerpoint/2010/main" val="37061715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F3B5107-8BDF-80A6-DD8D-8661EB2D19CE}"/>
              </a:ext>
            </a:extLst>
          </p:cNvPr>
          <p:cNvSpPr>
            <a:spLocks noGrp="1"/>
          </p:cNvSpPr>
          <p:nvPr>
            <p:ph type="title"/>
          </p:nvPr>
        </p:nvSpPr>
        <p:spPr/>
        <p:txBody>
          <a:bodyPr/>
          <a:lstStyle/>
          <a:p>
            <a:r>
              <a:rPr lang="en-GB" dirty="0"/>
              <a:t>Les partitions</a:t>
            </a:r>
          </a:p>
        </p:txBody>
      </p:sp>
      <p:sp>
        <p:nvSpPr>
          <p:cNvPr id="3" name="Espace réservé du contenu 2">
            <a:extLst>
              <a:ext uri="{FF2B5EF4-FFF2-40B4-BE49-F238E27FC236}">
                <a16:creationId xmlns:a16="http://schemas.microsoft.com/office/drawing/2014/main" id="{1DED1376-08A0-09F7-ECFE-88644398B488}"/>
              </a:ext>
            </a:extLst>
          </p:cNvPr>
          <p:cNvSpPr>
            <a:spLocks noGrp="1"/>
          </p:cNvSpPr>
          <p:nvPr>
            <p:ph idx="1"/>
          </p:nvPr>
        </p:nvSpPr>
        <p:spPr/>
        <p:txBody>
          <a:bodyPr>
            <a:normAutofit/>
          </a:bodyPr>
          <a:lstStyle/>
          <a:p>
            <a:r>
              <a:rPr lang="fr-FR" sz="2400" dirty="0"/>
              <a:t>Ce sont les éléments graphiques permettant de structurer et regrouper les différents éléments qui composent le diagramme BPMN. Les deux types de partitions sont les participants (pool) et les couloirs (Lane)</a:t>
            </a:r>
            <a:endParaRPr lang="en-GB" sz="2400" dirty="0"/>
          </a:p>
        </p:txBody>
      </p:sp>
      <p:sp>
        <p:nvSpPr>
          <p:cNvPr id="4" name="Espace réservé de la date 3">
            <a:extLst>
              <a:ext uri="{FF2B5EF4-FFF2-40B4-BE49-F238E27FC236}">
                <a16:creationId xmlns:a16="http://schemas.microsoft.com/office/drawing/2014/main" id="{9D89D01E-CCC2-7DF7-E3F6-62E349EE991C}"/>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27821248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778FBA-8469-F6EE-1BE5-5EFEEEB38294}"/>
              </a:ext>
            </a:extLst>
          </p:cNvPr>
          <p:cNvSpPr>
            <a:spLocks noGrp="1"/>
          </p:cNvSpPr>
          <p:nvPr>
            <p:ph type="title"/>
          </p:nvPr>
        </p:nvSpPr>
        <p:spPr/>
        <p:txBody>
          <a:bodyPr/>
          <a:lstStyle/>
          <a:p>
            <a:r>
              <a:rPr lang="en-GB" dirty="0"/>
              <a:t>Les participants (pool)</a:t>
            </a:r>
          </a:p>
        </p:txBody>
      </p:sp>
      <p:sp>
        <p:nvSpPr>
          <p:cNvPr id="3" name="Espace réservé du contenu 2">
            <a:extLst>
              <a:ext uri="{FF2B5EF4-FFF2-40B4-BE49-F238E27FC236}">
                <a16:creationId xmlns:a16="http://schemas.microsoft.com/office/drawing/2014/main" id="{BF331F10-FD4B-F3D4-B4A5-8333D8FA76D3}"/>
              </a:ext>
            </a:extLst>
          </p:cNvPr>
          <p:cNvSpPr>
            <a:spLocks noGrp="1"/>
          </p:cNvSpPr>
          <p:nvPr>
            <p:ph idx="1"/>
          </p:nvPr>
        </p:nvSpPr>
        <p:spPr/>
        <p:txBody>
          <a:bodyPr>
            <a:noAutofit/>
          </a:bodyPr>
          <a:lstStyle/>
          <a:p>
            <a:r>
              <a:rPr lang="fr-FR" sz="2400" dirty="0"/>
              <a:t>Un pool est la représentation graphique d’un participant à une collaboration, un participant peut être une entité partenaire spécifique (par exemple : une entreprise) ou un rôle partenaire plus général (par exemple : un acheteur, un vendeur ou un fabricant). Un pool peut avoir des détails internes, sous forme d’un processus qui sera exécuté, où il peut avoir aucun détail interne, un peu comme une «</a:t>
            </a:r>
            <a:r>
              <a:rPr lang="en-GB" sz="2400" dirty="0" err="1"/>
              <a:t>boîte</a:t>
            </a:r>
            <a:r>
              <a:rPr lang="en-GB" sz="2400" dirty="0"/>
              <a:t> noire ».</a:t>
            </a:r>
          </a:p>
          <a:p>
            <a:r>
              <a:rPr lang="fr-FR" sz="2400" dirty="0"/>
              <a:t>Un pool est un rectangle à coins carrés tracé avec une seule ligne continue, l’étiquette de Pool peut être placée dans n’importe quel endroit et direction à l’intérieur, mais doit être séparée du contenu par une seule ligne.</a:t>
            </a:r>
            <a:endParaRPr lang="en-GB" sz="2400" dirty="0"/>
          </a:p>
        </p:txBody>
      </p:sp>
      <p:sp>
        <p:nvSpPr>
          <p:cNvPr id="4" name="Espace réservé de la date 3">
            <a:extLst>
              <a:ext uri="{FF2B5EF4-FFF2-40B4-BE49-F238E27FC236}">
                <a16:creationId xmlns:a16="http://schemas.microsoft.com/office/drawing/2014/main" id="{E838BB6F-59FC-3315-17D8-B28AF0F16E28}"/>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36382466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219286-A053-440C-2A71-3C9ED21FCF28}"/>
              </a:ext>
            </a:extLst>
          </p:cNvPr>
          <p:cNvSpPr>
            <a:spLocks noGrp="1"/>
          </p:cNvSpPr>
          <p:nvPr>
            <p:ph type="title"/>
          </p:nvPr>
        </p:nvSpPr>
        <p:spPr/>
        <p:txBody>
          <a:bodyPr/>
          <a:lstStyle/>
          <a:p>
            <a:r>
              <a:rPr lang="en-GB" dirty="0"/>
              <a:t>Les participants (pool)</a:t>
            </a:r>
          </a:p>
        </p:txBody>
      </p:sp>
      <p:sp>
        <p:nvSpPr>
          <p:cNvPr id="3" name="Espace réservé du contenu 2">
            <a:extLst>
              <a:ext uri="{FF2B5EF4-FFF2-40B4-BE49-F238E27FC236}">
                <a16:creationId xmlns:a16="http://schemas.microsoft.com/office/drawing/2014/main" id="{210304A0-3D6C-BDA9-CE8B-A9C6EE34674F}"/>
              </a:ext>
            </a:extLst>
          </p:cNvPr>
          <p:cNvSpPr>
            <a:spLocks noGrp="1"/>
          </p:cNvSpPr>
          <p:nvPr>
            <p:ph idx="1"/>
          </p:nvPr>
        </p:nvSpPr>
        <p:spPr/>
        <p:txBody>
          <a:bodyPr>
            <a:normAutofit/>
          </a:bodyPr>
          <a:lstStyle/>
          <a:p>
            <a:r>
              <a:rPr lang="fr-FR" sz="2400" dirty="0"/>
              <a:t>Si le pool est une boîte noire l’étiquette du pool peut être placée n’importe où dans le pool sans séparateur de ligne unique.</a:t>
            </a:r>
          </a:p>
          <a:p>
            <a:endParaRPr lang="fr-FR" sz="2400" dirty="0"/>
          </a:p>
          <a:p>
            <a:endParaRPr lang="en-GB" sz="2400" dirty="0"/>
          </a:p>
        </p:txBody>
      </p:sp>
      <p:sp>
        <p:nvSpPr>
          <p:cNvPr id="4" name="Espace réservé de la date 3">
            <a:extLst>
              <a:ext uri="{FF2B5EF4-FFF2-40B4-BE49-F238E27FC236}">
                <a16:creationId xmlns:a16="http://schemas.microsoft.com/office/drawing/2014/main" id="{E1C0F206-83D9-BE91-9BC7-44F9D43B72C2}"/>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pic>
        <p:nvPicPr>
          <p:cNvPr id="8" name="Image 7">
            <a:extLst>
              <a:ext uri="{FF2B5EF4-FFF2-40B4-BE49-F238E27FC236}">
                <a16:creationId xmlns:a16="http://schemas.microsoft.com/office/drawing/2014/main" id="{86F777C1-21E8-3C75-9D12-8396DBC4A985}"/>
              </a:ext>
            </a:extLst>
          </p:cNvPr>
          <p:cNvPicPr>
            <a:picLocks noChangeAspect="1"/>
          </p:cNvPicPr>
          <p:nvPr/>
        </p:nvPicPr>
        <p:blipFill>
          <a:blip r:embed="rId2"/>
          <a:stretch>
            <a:fillRect/>
          </a:stretch>
        </p:blipFill>
        <p:spPr>
          <a:xfrm>
            <a:off x="1097280" y="3046247"/>
            <a:ext cx="6485966" cy="2157522"/>
          </a:xfrm>
          <a:prstGeom prst="rect">
            <a:avLst/>
          </a:prstGeom>
        </p:spPr>
      </p:pic>
      <p:pic>
        <p:nvPicPr>
          <p:cNvPr id="10" name="Image 9">
            <a:extLst>
              <a:ext uri="{FF2B5EF4-FFF2-40B4-BE49-F238E27FC236}">
                <a16:creationId xmlns:a16="http://schemas.microsoft.com/office/drawing/2014/main" id="{5D72044C-D8E5-4D99-26A1-568C0A03947A}"/>
              </a:ext>
            </a:extLst>
          </p:cNvPr>
          <p:cNvPicPr>
            <a:picLocks noChangeAspect="1"/>
          </p:cNvPicPr>
          <p:nvPr/>
        </p:nvPicPr>
        <p:blipFill>
          <a:blip r:embed="rId3"/>
          <a:stretch>
            <a:fillRect/>
          </a:stretch>
        </p:blipFill>
        <p:spPr>
          <a:xfrm>
            <a:off x="907235" y="5382641"/>
            <a:ext cx="7449764" cy="1246759"/>
          </a:xfrm>
          <a:prstGeom prst="rect">
            <a:avLst/>
          </a:prstGeom>
        </p:spPr>
      </p:pic>
    </p:spTree>
    <p:extLst>
      <p:ext uri="{BB962C8B-B14F-4D97-AF65-F5344CB8AC3E}">
        <p14:creationId xmlns:p14="http://schemas.microsoft.com/office/powerpoint/2010/main" val="15976351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5DB2D7-EFCB-329E-63EB-0D9B54EDA3BC}"/>
              </a:ext>
            </a:extLst>
          </p:cNvPr>
          <p:cNvSpPr>
            <a:spLocks noGrp="1"/>
          </p:cNvSpPr>
          <p:nvPr>
            <p:ph type="title"/>
          </p:nvPr>
        </p:nvSpPr>
        <p:spPr/>
        <p:txBody>
          <a:bodyPr/>
          <a:lstStyle/>
          <a:p>
            <a:r>
              <a:rPr lang="en-GB" dirty="0"/>
              <a:t>Les couloirs (Lane)</a:t>
            </a:r>
          </a:p>
        </p:txBody>
      </p:sp>
      <p:sp>
        <p:nvSpPr>
          <p:cNvPr id="3" name="Espace réservé du contenu 2">
            <a:extLst>
              <a:ext uri="{FF2B5EF4-FFF2-40B4-BE49-F238E27FC236}">
                <a16:creationId xmlns:a16="http://schemas.microsoft.com/office/drawing/2014/main" id="{8298BEB3-B52C-6D7D-04D9-578DAB9FC1FB}"/>
              </a:ext>
            </a:extLst>
          </p:cNvPr>
          <p:cNvSpPr>
            <a:spLocks noGrp="1"/>
          </p:cNvSpPr>
          <p:nvPr>
            <p:ph idx="1"/>
          </p:nvPr>
        </p:nvSpPr>
        <p:spPr/>
        <p:txBody>
          <a:bodyPr>
            <a:normAutofit/>
          </a:bodyPr>
          <a:lstStyle/>
          <a:p>
            <a:r>
              <a:rPr lang="fr-FR" sz="2400" dirty="0"/>
              <a:t>Un couloir est un rectangle aux coins carrés, il peut être vertical ou horizontal. Un couloir c’est une partition en sous ensemble dans le pool, ils sont utilisés pour organiser et classer les activités. Pour illustrer les échanges entre 2 couloirs on utilise des </a:t>
            </a:r>
            <a:r>
              <a:rPr lang="en-GB" sz="2400" dirty="0"/>
              <a:t>flux de messages.</a:t>
            </a:r>
          </a:p>
          <a:p>
            <a:endParaRPr lang="en-GB" sz="2400" dirty="0"/>
          </a:p>
        </p:txBody>
      </p:sp>
      <p:sp>
        <p:nvSpPr>
          <p:cNvPr id="4" name="Espace réservé de la date 3">
            <a:extLst>
              <a:ext uri="{FF2B5EF4-FFF2-40B4-BE49-F238E27FC236}">
                <a16:creationId xmlns:a16="http://schemas.microsoft.com/office/drawing/2014/main" id="{D219A609-4E37-2CA3-54FF-D1034B6EFB76}"/>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pic>
        <p:nvPicPr>
          <p:cNvPr id="6" name="Image 5">
            <a:extLst>
              <a:ext uri="{FF2B5EF4-FFF2-40B4-BE49-F238E27FC236}">
                <a16:creationId xmlns:a16="http://schemas.microsoft.com/office/drawing/2014/main" id="{16B35499-38B5-4D60-2905-258C401059D9}"/>
              </a:ext>
            </a:extLst>
          </p:cNvPr>
          <p:cNvPicPr>
            <a:picLocks noChangeAspect="1"/>
          </p:cNvPicPr>
          <p:nvPr/>
        </p:nvPicPr>
        <p:blipFill>
          <a:blip r:embed="rId2"/>
          <a:stretch>
            <a:fillRect/>
          </a:stretch>
        </p:blipFill>
        <p:spPr>
          <a:xfrm>
            <a:off x="2506765" y="3960322"/>
            <a:ext cx="7004086" cy="1908770"/>
          </a:xfrm>
          <a:prstGeom prst="rect">
            <a:avLst/>
          </a:prstGeom>
        </p:spPr>
      </p:pic>
    </p:spTree>
    <p:extLst>
      <p:ext uri="{BB962C8B-B14F-4D97-AF65-F5344CB8AC3E}">
        <p14:creationId xmlns:p14="http://schemas.microsoft.com/office/powerpoint/2010/main" val="15683069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CC81D4-C37D-18C5-3BEA-582B9E3108A5}"/>
              </a:ext>
            </a:extLst>
          </p:cNvPr>
          <p:cNvSpPr>
            <a:spLocks noGrp="1"/>
          </p:cNvSpPr>
          <p:nvPr>
            <p:ph type="title"/>
          </p:nvPr>
        </p:nvSpPr>
        <p:spPr/>
        <p:txBody>
          <a:bodyPr/>
          <a:lstStyle/>
          <a:p>
            <a:r>
              <a:rPr lang="en-GB" dirty="0"/>
              <a:t>Les données</a:t>
            </a:r>
          </a:p>
        </p:txBody>
      </p:sp>
      <p:sp>
        <p:nvSpPr>
          <p:cNvPr id="3" name="Espace réservé du contenu 2">
            <a:extLst>
              <a:ext uri="{FF2B5EF4-FFF2-40B4-BE49-F238E27FC236}">
                <a16:creationId xmlns:a16="http://schemas.microsoft.com/office/drawing/2014/main" id="{61122879-0CC8-FCAA-D54B-917E9BB1D5A9}"/>
              </a:ext>
            </a:extLst>
          </p:cNvPr>
          <p:cNvSpPr>
            <a:spLocks noGrp="1"/>
          </p:cNvSpPr>
          <p:nvPr>
            <p:ph idx="1"/>
          </p:nvPr>
        </p:nvSpPr>
        <p:spPr/>
        <p:txBody>
          <a:bodyPr>
            <a:normAutofit/>
          </a:bodyPr>
          <a:lstStyle/>
          <a:p>
            <a:r>
              <a:rPr lang="fr-FR" sz="2400" dirty="0"/>
              <a:t>utilisées pour expliquer quelles données sont nécessaires dans le diagramme</a:t>
            </a:r>
          </a:p>
          <a:p>
            <a:endParaRPr lang="en-GB" sz="2400" dirty="0"/>
          </a:p>
        </p:txBody>
      </p:sp>
      <p:sp>
        <p:nvSpPr>
          <p:cNvPr id="4" name="Espace réservé de la date 3">
            <a:extLst>
              <a:ext uri="{FF2B5EF4-FFF2-40B4-BE49-F238E27FC236}">
                <a16:creationId xmlns:a16="http://schemas.microsoft.com/office/drawing/2014/main" id="{C9EAE98E-191F-5041-833D-5158F01E30EC}"/>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pic>
        <p:nvPicPr>
          <p:cNvPr id="6" name="Image 5">
            <a:extLst>
              <a:ext uri="{FF2B5EF4-FFF2-40B4-BE49-F238E27FC236}">
                <a16:creationId xmlns:a16="http://schemas.microsoft.com/office/drawing/2014/main" id="{F374C2DA-EE2B-35E3-DCEE-5831910082A8}"/>
              </a:ext>
            </a:extLst>
          </p:cNvPr>
          <p:cNvPicPr>
            <a:picLocks noChangeAspect="1"/>
          </p:cNvPicPr>
          <p:nvPr/>
        </p:nvPicPr>
        <p:blipFill>
          <a:blip r:embed="rId2"/>
          <a:stretch>
            <a:fillRect/>
          </a:stretch>
        </p:blipFill>
        <p:spPr>
          <a:xfrm>
            <a:off x="829969" y="3180620"/>
            <a:ext cx="9802149" cy="2001030"/>
          </a:xfrm>
          <a:prstGeom prst="rect">
            <a:avLst/>
          </a:prstGeom>
        </p:spPr>
      </p:pic>
    </p:spTree>
    <p:extLst>
      <p:ext uri="{BB962C8B-B14F-4D97-AF65-F5344CB8AC3E}">
        <p14:creationId xmlns:p14="http://schemas.microsoft.com/office/powerpoint/2010/main" val="1282377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B8921F-27F4-C003-DD01-656818D15AA0}"/>
              </a:ext>
            </a:extLst>
          </p:cNvPr>
          <p:cNvSpPr>
            <a:spLocks noGrp="1"/>
          </p:cNvSpPr>
          <p:nvPr>
            <p:ph type="title"/>
          </p:nvPr>
        </p:nvSpPr>
        <p:spPr/>
        <p:txBody>
          <a:bodyPr/>
          <a:lstStyle/>
          <a:p>
            <a:r>
              <a:rPr lang="en-GB" dirty="0"/>
              <a:t>Données</a:t>
            </a:r>
          </a:p>
        </p:txBody>
      </p:sp>
      <p:sp>
        <p:nvSpPr>
          <p:cNvPr id="3" name="Espace réservé du contenu 2">
            <a:extLst>
              <a:ext uri="{FF2B5EF4-FFF2-40B4-BE49-F238E27FC236}">
                <a16:creationId xmlns:a16="http://schemas.microsoft.com/office/drawing/2014/main" id="{4107D1AE-D316-C52D-8FE2-C725A6A88ED0}"/>
              </a:ext>
            </a:extLst>
          </p:cNvPr>
          <p:cNvSpPr>
            <a:spLocks noGrp="1"/>
          </p:cNvSpPr>
          <p:nvPr>
            <p:ph idx="1"/>
          </p:nvPr>
        </p:nvSpPr>
        <p:spPr/>
        <p:txBody>
          <a:bodyPr>
            <a:normAutofit/>
          </a:bodyPr>
          <a:lstStyle/>
          <a:p>
            <a:r>
              <a:rPr lang="fr-FR" sz="2400" dirty="0"/>
              <a:t>Objets utilisés pour représenter les données nécessaires pour l’exécution d’une activité, ainsi que celles produites. Les objets de données peuvent représenter un objet singulier ou une collection d’objets.</a:t>
            </a:r>
          </a:p>
          <a:p>
            <a:r>
              <a:rPr lang="fr-FR" sz="2400" dirty="0"/>
              <a:t>Une collection d’objets de données représente une collection des éléments de données liés à la même entité de données (par exemple : une liste des articles à commander).</a:t>
            </a:r>
            <a:endParaRPr lang="en-GB" sz="2400" dirty="0"/>
          </a:p>
        </p:txBody>
      </p:sp>
      <p:sp>
        <p:nvSpPr>
          <p:cNvPr id="4" name="Espace réservé de la date 3">
            <a:extLst>
              <a:ext uri="{FF2B5EF4-FFF2-40B4-BE49-F238E27FC236}">
                <a16:creationId xmlns:a16="http://schemas.microsoft.com/office/drawing/2014/main" id="{FE1BF774-45F0-E9FD-6C4E-33D96C5749BF}"/>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8157903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59A469-D6B2-5EAF-B286-1A2B5E970A5E}"/>
              </a:ext>
            </a:extLst>
          </p:cNvPr>
          <p:cNvSpPr>
            <a:spLocks noGrp="1"/>
          </p:cNvSpPr>
          <p:nvPr>
            <p:ph type="title"/>
          </p:nvPr>
        </p:nvSpPr>
        <p:spPr/>
        <p:txBody>
          <a:bodyPr/>
          <a:lstStyle/>
          <a:p>
            <a:r>
              <a:rPr lang="en-GB" dirty="0"/>
              <a:t>Les données</a:t>
            </a:r>
          </a:p>
        </p:txBody>
      </p:sp>
      <p:sp>
        <p:nvSpPr>
          <p:cNvPr id="3" name="Espace réservé du contenu 2">
            <a:extLst>
              <a:ext uri="{FF2B5EF4-FFF2-40B4-BE49-F238E27FC236}">
                <a16:creationId xmlns:a16="http://schemas.microsoft.com/office/drawing/2014/main" id="{675EE406-2FF0-5A85-30D5-036F1F389A2C}"/>
              </a:ext>
            </a:extLst>
          </p:cNvPr>
          <p:cNvSpPr>
            <a:spLocks noGrp="1"/>
          </p:cNvSpPr>
          <p:nvPr>
            <p:ph idx="1"/>
          </p:nvPr>
        </p:nvSpPr>
        <p:spPr/>
        <p:txBody>
          <a:bodyPr>
            <a:normAutofit/>
          </a:bodyPr>
          <a:lstStyle/>
          <a:p>
            <a:r>
              <a:rPr lang="fr-FR" sz="2400" dirty="0"/>
              <a:t>• Entrée de données (Data Input) : Est une entrée externe pour l’ensemble du processus, qui peut être lue par une activité.</a:t>
            </a:r>
          </a:p>
          <a:p>
            <a:r>
              <a:rPr lang="fr-FR" sz="2400" dirty="0"/>
              <a:t>• Sortie de données (Data Output) : Une sortie de données est le résultat de l’ensemble du processus.</a:t>
            </a:r>
          </a:p>
          <a:p>
            <a:r>
              <a:rPr lang="fr-FR" sz="2400" dirty="0"/>
              <a:t>• Magasine de données (Data Store) : Fournit un mécanisme de stockage de données où le processus peut lire ou écrire des données, comme une base de données ou un classeur d’archivage, et qui persiste au-delà de la durée de la vie de l’instance de processus.</a:t>
            </a:r>
            <a:endParaRPr lang="en-GB" sz="2400" dirty="0"/>
          </a:p>
        </p:txBody>
      </p:sp>
      <p:sp>
        <p:nvSpPr>
          <p:cNvPr id="4" name="Espace réservé de la date 3">
            <a:extLst>
              <a:ext uri="{FF2B5EF4-FFF2-40B4-BE49-F238E27FC236}">
                <a16:creationId xmlns:a16="http://schemas.microsoft.com/office/drawing/2014/main" id="{3D67A73B-4B13-F703-DEE8-678D8EBCE5DD}"/>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17143119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970D8E-E5D6-FE0B-B688-D41674099E29}"/>
              </a:ext>
            </a:extLst>
          </p:cNvPr>
          <p:cNvSpPr>
            <a:spLocks noGrp="1"/>
          </p:cNvSpPr>
          <p:nvPr>
            <p:ph type="title"/>
          </p:nvPr>
        </p:nvSpPr>
        <p:spPr/>
        <p:txBody>
          <a:bodyPr/>
          <a:lstStyle/>
          <a:p>
            <a:r>
              <a:rPr lang="en-GB" dirty="0"/>
              <a:t>Les </a:t>
            </a:r>
            <a:r>
              <a:rPr lang="en-GB" dirty="0" err="1"/>
              <a:t>artéfacts</a:t>
            </a:r>
            <a:endParaRPr lang="en-GB" dirty="0"/>
          </a:p>
        </p:txBody>
      </p:sp>
      <p:sp>
        <p:nvSpPr>
          <p:cNvPr id="3" name="Espace réservé du contenu 2">
            <a:extLst>
              <a:ext uri="{FF2B5EF4-FFF2-40B4-BE49-F238E27FC236}">
                <a16:creationId xmlns:a16="http://schemas.microsoft.com/office/drawing/2014/main" id="{C0042C5C-96AD-2808-1125-A3A01A789F24}"/>
              </a:ext>
            </a:extLst>
          </p:cNvPr>
          <p:cNvSpPr>
            <a:spLocks noGrp="1"/>
          </p:cNvSpPr>
          <p:nvPr>
            <p:ph idx="1"/>
          </p:nvPr>
        </p:nvSpPr>
        <p:spPr/>
        <p:txBody>
          <a:bodyPr>
            <a:normAutofit/>
          </a:bodyPr>
          <a:lstStyle/>
          <a:p>
            <a:r>
              <a:rPr lang="fr-FR" sz="2400" dirty="0"/>
              <a:t>sont des objets supplémentaires qui apportent des détails complémentaires afin d’assurer une compréhension parfaite du processus, il existe deux types d’artéfacts</a:t>
            </a:r>
          </a:p>
          <a:p>
            <a:endParaRPr lang="en-GB" sz="2400" dirty="0"/>
          </a:p>
        </p:txBody>
      </p:sp>
      <p:sp>
        <p:nvSpPr>
          <p:cNvPr id="4" name="Espace réservé de la date 3">
            <a:extLst>
              <a:ext uri="{FF2B5EF4-FFF2-40B4-BE49-F238E27FC236}">
                <a16:creationId xmlns:a16="http://schemas.microsoft.com/office/drawing/2014/main" id="{C130BE46-B7BF-4A7A-2D9A-A8435FEC3EB4}"/>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pic>
        <p:nvPicPr>
          <p:cNvPr id="6" name="Image 5">
            <a:extLst>
              <a:ext uri="{FF2B5EF4-FFF2-40B4-BE49-F238E27FC236}">
                <a16:creationId xmlns:a16="http://schemas.microsoft.com/office/drawing/2014/main" id="{1CAC21D6-7C95-AD17-EE0A-064EEA9E32D6}"/>
              </a:ext>
            </a:extLst>
          </p:cNvPr>
          <p:cNvPicPr>
            <a:picLocks noChangeAspect="1"/>
          </p:cNvPicPr>
          <p:nvPr/>
        </p:nvPicPr>
        <p:blipFill>
          <a:blip r:embed="rId2"/>
          <a:stretch>
            <a:fillRect/>
          </a:stretch>
        </p:blipFill>
        <p:spPr>
          <a:xfrm>
            <a:off x="2831570" y="3537356"/>
            <a:ext cx="6528859" cy="2331736"/>
          </a:xfrm>
          <a:prstGeom prst="rect">
            <a:avLst/>
          </a:prstGeom>
        </p:spPr>
      </p:pic>
    </p:spTree>
    <p:extLst>
      <p:ext uri="{BB962C8B-B14F-4D97-AF65-F5344CB8AC3E}">
        <p14:creationId xmlns:p14="http://schemas.microsoft.com/office/powerpoint/2010/main" val="36391021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90F80B-DCF5-DAFB-BEF3-9F7F442349FE}"/>
              </a:ext>
            </a:extLst>
          </p:cNvPr>
          <p:cNvSpPr>
            <a:spLocks noGrp="1"/>
          </p:cNvSpPr>
          <p:nvPr>
            <p:ph type="title"/>
          </p:nvPr>
        </p:nvSpPr>
        <p:spPr/>
        <p:txBody>
          <a:bodyPr/>
          <a:lstStyle/>
          <a:p>
            <a:r>
              <a:rPr lang="en-GB" dirty="0"/>
              <a:t>Les </a:t>
            </a:r>
            <a:r>
              <a:rPr lang="en-GB" dirty="0" err="1"/>
              <a:t>aerétfacts</a:t>
            </a:r>
            <a:endParaRPr lang="en-GB" dirty="0"/>
          </a:p>
        </p:txBody>
      </p:sp>
      <p:sp>
        <p:nvSpPr>
          <p:cNvPr id="3" name="Espace réservé du contenu 2">
            <a:extLst>
              <a:ext uri="{FF2B5EF4-FFF2-40B4-BE49-F238E27FC236}">
                <a16:creationId xmlns:a16="http://schemas.microsoft.com/office/drawing/2014/main" id="{052F1FA2-4A07-A144-5F09-5B74F62F8CE8}"/>
              </a:ext>
            </a:extLst>
          </p:cNvPr>
          <p:cNvSpPr>
            <a:spLocks noGrp="1"/>
          </p:cNvSpPr>
          <p:nvPr>
            <p:ph idx="1"/>
          </p:nvPr>
        </p:nvSpPr>
        <p:spPr/>
        <p:txBody>
          <a:bodyPr>
            <a:normAutofit/>
          </a:bodyPr>
          <a:lstStyle/>
          <a:p>
            <a:r>
              <a:rPr lang="en-GB" sz="2400" dirty="0"/>
              <a:t>• Groupe : </a:t>
            </a:r>
            <a:r>
              <a:rPr lang="fr-FR" sz="2400" dirty="0"/>
              <a:t>Un groupe est un rectangle à coins arrondis tracé avec une ligne pointillée continue,</a:t>
            </a:r>
          </a:p>
          <a:p>
            <a:r>
              <a:rPr lang="fr-FR" sz="2400" dirty="0"/>
              <a:t>ce dernier permet de regrouper des taches d’une même catégorie afin de mieux les repérer visuellement sur le diagramme.</a:t>
            </a:r>
          </a:p>
          <a:p>
            <a:r>
              <a:rPr lang="en-GB" sz="2400" dirty="0"/>
              <a:t>• Texte annotation : </a:t>
            </a:r>
            <a:r>
              <a:rPr lang="fr-FR" sz="2400" dirty="0"/>
              <a:t>Qui permet d’ajouter des commentaires pour faciliter la lecture du diagramme BPMN.</a:t>
            </a:r>
            <a:endParaRPr lang="en-GB" sz="2400" dirty="0"/>
          </a:p>
        </p:txBody>
      </p:sp>
      <p:sp>
        <p:nvSpPr>
          <p:cNvPr id="4" name="Espace réservé de la date 3">
            <a:extLst>
              <a:ext uri="{FF2B5EF4-FFF2-40B4-BE49-F238E27FC236}">
                <a16:creationId xmlns:a16="http://schemas.microsoft.com/office/drawing/2014/main" id="{EA3E21D7-B1C2-52B2-13EA-CD429F00EAF9}"/>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18738898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BA7CFA-1369-DC58-B19C-A46A152DF291}"/>
              </a:ext>
            </a:extLst>
          </p:cNvPr>
          <p:cNvSpPr>
            <a:spLocks noGrp="1"/>
          </p:cNvSpPr>
          <p:nvPr>
            <p:ph type="title"/>
          </p:nvPr>
        </p:nvSpPr>
        <p:spPr/>
        <p:txBody>
          <a:bodyPr/>
          <a:lstStyle/>
          <a:p>
            <a:r>
              <a:rPr lang="en-GB" dirty="0" err="1"/>
              <a:t>Exemple</a:t>
            </a:r>
            <a:r>
              <a:rPr lang="en-GB" dirty="0"/>
              <a:t> </a:t>
            </a:r>
            <a:r>
              <a:rPr lang="fr-FR" dirty="0"/>
              <a:t>de processus d’irrigation modélisé en BPMN</a:t>
            </a:r>
            <a:endParaRPr lang="en-GB" dirty="0"/>
          </a:p>
        </p:txBody>
      </p:sp>
      <p:pic>
        <p:nvPicPr>
          <p:cNvPr id="6" name="Espace réservé du contenu 5">
            <a:extLst>
              <a:ext uri="{FF2B5EF4-FFF2-40B4-BE49-F238E27FC236}">
                <a16:creationId xmlns:a16="http://schemas.microsoft.com/office/drawing/2014/main" id="{C461C21F-1204-6508-DC07-9666C2710CA7}"/>
              </a:ext>
            </a:extLst>
          </p:cNvPr>
          <p:cNvPicPr>
            <a:picLocks noGrp="1" noChangeAspect="1"/>
          </p:cNvPicPr>
          <p:nvPr>
            <p:ph idx="1"/>
          </p:nvPr>
        </p:nvPicPr>
        <p:blipFill>
          <a:blip r:embed="rId2"/>
          <a:stretch>
            <a:fillRect/>
          </a:stretch>
        </p:blipFill>
        <p:spPr>
          <a:xfrm>
            <a:off x="2327564" y="344607"/>
            <a:ext cx="6270743" cy="6284793"/>
          </a:xfrm>
          <a:prstGeom prst="rect">
            <a:avLst/>
          </a:prstGeom>
        </p:spPr>
      </p:pic>
      <p:sp>
        <p:nvSpPr>
          <p:cNvPr id="4" name="Espace réservé de la date 3">
            <a:extLst>
              <a:ext uri="{FF2B5EF4-FFF2-40B4-BE49-F238E27FC236}">
                <a16:creationId xmlns:a16="http://schemas.microsoft.com/office/drawing/2014/main" id="{2EA2CB09-5AFE-B11E-B710-20C262535D5F}"/>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517885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439F26-5EB6-0C16-4B16-8DC8A4813946}"/>
              </a:ext>
            </a:extLst>
          </p:cNvPr>
          <p:cNvSpPr>
            <a:spLocks noGrp="1"/>
          </p:cNvSpPr>
          <p:nvPr>
            <p:ph type="title"/>
          </p:nvPr>
        </p:nvSpPr>
        <p:spPr/>
        <p:txBody>
          <a:bodyPr/>
          <a:lstStyle/>
          <a:p>
            <a:r>
              <a:rPr lang="en-GB" dirty="0"/>
              <a:t>Types de </a:t>
            </a:r>
            <a:r>
              <a:rPr lang="en-GB" dirty="0" err="1"/>
              <a:t>diagrammes</a:t>
            </a:r>
            <a:r>
              <a:rPr lang="en-GB" dirty="0"/>
              <a:t> BPMN</a:t>
            </a:r>
          </a:p>
        </p:txBody>
      </p:sp>
      <p:sp>
        <p:nvSpPr>
          <p:cNvPr id="3" name="Espace réservé du contenu 2">
            <a:extLst>
              <a:ext uri="{FF2B5EF4-FFF2-40B4-BE49-F238E27FC236}">
                <a16:creationId xmlns:a16="http://schemas.microsoft.com/office/drawing/2014/main" id="{73EBFC80-6B29-D3FA-017E-A97E374EF29B}"/>
              </a:ext>
            </a:extLst>
          </p:cNvPr>
          <p:cNvSpPr>
            <a:spLocks noGrp="1"/>
          </p:cNvSpPr>
          <p:nvPr>
            <p:ph idx="1"/>
          </p:nvPr>
        </p:nvSpPr>
        <p:spPr/>
        <p:txBody>
          <a:bodyPr>
            <a:normAutofit/>
          </a:bodyPr>
          <a:lstStyle/>
          <a:p>
            <a:r>
              <a:rPr lang="fr-FR" sz="2400" dirty="0"/>
              <a:t>La spécification BPMN 2.0 est divisée en plusieurs types de diagrammes (Processus, chorégraphie, Collaboration et Conversation) chacun est utilisé pour exprimer un aspect précis de </a:t>
            </a:r>
            <a:r>
              <a:rPr lang="en-GB" sz="2400" dirty="0"/>
              <a:t>processus </a:t>
            </a:r>
            <a:r>
              <a:rPr lang="en-GB" sz="2400" dirty="0" err="1"/>
              <a:t>métiers</a:t>
            </a:r>
            <a:r>
              <a:rPr lang="en-GB" sz="2400" dirty="0"/>
              <a:t>.</a:t>
            </a:r>
          </a:p>
        </p:txBody>
      </p:sp>
      <p:sp>
        <p:nvSpPr>
          <p:cNvPr id="4" name="Espace réservé de la date 3">
            <a:extLst>
              <a:ext uri="{FF2B5EF4-FFF2-40B4-BE49-F238E27FC236}">
                <a16:creationId xmlns:a16="http://schemas.microsoft.com/office/drawing/2014/main" id="{BD6CC3D6-FA17-D92D-151C-CB518DF95898}"/>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39723909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8677049-ECC3-5BFE-672E-C52E65822B70}"/>
              </a:ext>
            </a:extLst>
          </p:cNvPr>
          <p:cNvSpPr>
            <a:spLocks noGrp="1"/>
          </p:cNvSpPr>
          <p:nvPr>
            <p:ph type="title"/>
          </p:nvPr>
        </p:nvSpPr>
        <p:spPr/>
        <p:txBody>
          <a:bodyPr/>
          <a:lstStyle/>
          <a:p>
            <a:r>
              <a:rPr lang="en-GB" dirty="0" err="1"/>
              <a:t>Diagramme</a:t>
            </a:r>
            <a:r>
              <a:rPr lang="en-GB" dirty="0"/>
              <a:t> de processus</a:t>
            </a:r>
          </a:p>
        </p:txBody>
      </p:sp>
      <p:sp>
        <p:nvSpPr>
          <p:cNvPr id="3" name="Espace réservé du contenu 2">
            <a:extLst>
              <a:ext uri="{FF2B5EF4-FFF2-40B4-BE49-F238E27FC236}">
                <a16:creationId xmlns:a16="http://schemas.microsoft.com/office/drawing/2014/main" id="{08BF9907-0BBB-1C0E-B86D-63F3C6E63567}"/>
              </a:ext>
            </a:extLst>
          </p:cNvPr>
          <p:cNvSpPr>
            <a:spLocks noGrp="1"/>
          </p:cNvSpPr>
          <p:nvPr>
            <p:ph idx="1"/>
          </p:nvPr>
        </p:nvSpPr>
        <p:spPr/>
        <p:txBody>
          <a:bodyPr>
            <a:normAutofit/>
          </a:bodyPr>
          <a:lstStyle/>
          <a:p>
            <a:r>
              <a:rPr lang="fr-FR" sz="2400" dirty="0"/>
              <a:t>Il existe trois (3) types de base de diagramme de processus BPMN :</a:t>
            </a:r>
          </a:p>
          <a:p>
            <a:r>
              <a:rPr lang="en-GB" sz="2400" dirty="0"/>
              <a:t>• Processus </a:t>
            </a:r>
            <a:r>
              <a:rPr lang="en-GB" sz="2400" dirty="0" err="1"/>
              <a:t>métier</a:t>
            </a:r>
            <a:r>
              <a:rPr lang="en-GB" sz="2400" dirty="0"/>
              <a:t> </a:t>
            </a:r>
            <a:r>
              <a:rPr lang="en-GB" sz="2400" dirty="0" err="1"/>
              <a:t>privé</a:t>
            </a:r>
            <a:r>
              <a:rPr lang="en-GB" sz="2400" dirty="0"/>
              <a:t> </a:t>
            </a:r>
            <a:r>
              <a:rPr lang="en-GB" sz="2400" dirty="0" err="1"/>
              <a:t>exécutable</a:t>
            </a:r>
            <a:r>
              <a:rPr lang="en-GB" sz="2400" dirty="0"/>
              <a:t>.</a:t>
            </a:r>
          </a:p>
          <a:p>
            <a:r>
              <a:rPr lang="fr-FR" sz="2400" dirty="0"/>
              <a:t>• Processus métier privé non exécutable.</a:t>
            </a:r>
          </a:p>
          <a:p>
            <a:r>
              <a:rPr lang="en-GB" sz="2400" dirty="0"/>
              <a:t>• Processus </a:t>
            </a:r>
            <a:r>
              <a:rPr lang="en-GB" sz="2400" dirty="0" err="1"/>
              <a:t>métier</a:t>
            </a:r>
            <a:r>
              <a:rPr lang="en-GB" sz="2400" dirty="0"/>
              <a:t> public.</a:t>
            </a:r>
          </a:p>
        </p:txBody>
      </p:sp>
      <p:sp>
        <p:nvSpPr>
          <p:cNvPr id="4" name="Espace réservé de la date 3">
            <a:extLst>
              <a:ext uri="{FF2B5EF4-FFF2-40B4-BE49-F238E27FC236}">
                <a16:creationId xmlns:a16="http://schemas.microsoft.com/office/drawing/2014/main" id="{9D589E56-780B-66DB-4700-267268B56168}"/>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spTree>
    <p:extLst>
      <p:ext uri="{BB962C8B-B14F-4D97-AF65-F5344CB8AC3E}">
        <p14:creationId xmlns:p14="http://schemas.microsoft.com/office/powerpoint/2010/main" val="2672606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7116FE-0BCF-76A2-7E49-8A937E49512C}"/>
              </a:ext>
            </a:extLst>
          </p:cNvPr>
          <p:cNvSpPr>
            <a:spLocks noGrp="1"/>
          </p:cNvSpPr>
          <p:nvPr>
            <p:ph type="title"/>
          </p:nvPr>
        </p:nvSpPr>
        <p:spPr/>
        <p:txBody>
          <a:bodyPr/>
          <a:lstStyle/>
          <a:p>
            <a:r>
              <a:rPr lang="en-GB" sz="4800" dirty="0"/>
              <a:t>Processus </a:t>
            </a:r>
            <a:r>
              <a:rPr lang="en-GB" sz="4800" dirty="0" err="1"/>
              <a:t>métier</a:t>
            </a:r>
            <a:r>
              <a:rPr lang="en-GB" sz="4800" dirty="0"/>
              <a:t> </a:t>
            </a:r>
            <a:r>
              <a:rPr lang="en-GB" sz="4800" dirty="0" err="1"/>
              <a:t>privé</a:t>
            </a:r>
            <a:r>
              <a:rPr lang="en-GB" sz="4800" dirty="0"/>
              <a:t> (interne)</a:t>
            </a:r>
            <a:endParaRPr lang="en-GB" dirty="0"/>
          </a:p>
        </p:txBody>
      </p:sp>
      <p:sp>
        <p:nvSpPr>
          <p:cNvPr id="3" name="Espace réservé du contenu 2">
            <a:extLst>
              <a:ext uri="{FF2B5EF4-FFF2-40B4-BE49-F238E27FC236}">
                <a16:creationId xmlns:a16="http://schemas.microsoft.com/office/drawing/2014/main" id="{151968B7-2702-C3C1-63E0-89B23AD5AFCB}"/>
              </a:ext>
            </a:extLst>
          </p:cNvPr>
          <p:cNvSpPr>
            <a:spLocks noGrp="1"/>
          </p:cNvSpPr>
          <p:nvPr>
            <p:ph idx="1"/>
          </p:nvPr>
        </p:nvSpPr>
        <p:spPr>
          <a:xfrm>
            <a:off x="368135" y="2108201"/>
            <a:ext cx="11317184" cy="3760891"/>
          </a:xfrm>
        </p:spPr>
        <p:txBody>
          <a:bodyPr>
            <a:normAutofit/>
          </a:bodyPr>
          <a:lstStyle/>
          <a:p>
            <a:r>
              <a:rPr lang="fr-FR" sz="2400" dirty="0"/>
              <a:t>Les processus d’affaires privés sont internes à une organisation particulière en précisant les sous-processus, les activités ou les tâches, les passerelles, les événements, les objets échangés</a:t>
            </a:r>
          </a:p>
          <a:p>
            <a:r>
              <a:rPr lang="fr-FR" sz="2400" dirty="0"/>
              <a:t>La figure suivante donne un exemple de processus privé qui correspond à un processus d’examen radiologique. Il s’exécute au sein d’une seule organisation qui est « le centre de radiologie ». Ce processus comporte quatre activités en séquence : Réception d’une demande d’examen, Attribution de rendez-vous, Examen et Rédaction de rapport.</a:t>
            </a:r>
          </a:p>
          <a:p>
            <a:endParaRPr lang="en-GB" dirty="0"/>
          </a:p>
        </p:txBody>
      </p:sp>
      <p:sp>
        <p:nvSpPr>
          <p:cNvPr id="4" name="Espace réservé de la date 3">
            <a:extLst>
              <a:ext uri="{FF2B5EF4-FFF2-40B4-BE49-F238E27FC236}">
                <a16:creationId xmlns:a16="http://schemas.microsoft.com/office/drawing/2014/main" id="{FB139449-C321-06C2-08EC-65B33A5AC108}"/>
              </a:ext>
            </a:extLst>
          </p:cNvPr>
          <p:cNvSpPr>
            <a:spLocks noGrp="1"/>
          </p:cNvSpPr>
          <p:nvPr>
            <p:ph type="dt" sz="half" idx="10"/>
          </p:nvPr>
        </p:nvSpPr>
        <p:spPr/>
        <p:txBody>
          <a:bodyPr/>
          <a:lstStyle/>
          <a:p>
            <a:pPr rtl="0"/>
            <a:fld id="{75162FBC-E467-46B8-ABE1-98D95CFF2BA6}" type="datetime1">
              <a:rPr lang="fr-FR" smtClean="0"/>
              <a:t>13/04/2026</a:t>
            </a:fld>
            <a:endParaRPr lang="en-US" dirty="0"/>
          </a:p>
        </p:txBody>
      </p:sp>
      <p:pic>
        <p:nvPicPr>
          <p:cNvPr id="6" name="Image 5">
            <a:extLst>
              <a:ext uri="{FF2B5EF4-FFF2-40B4-BE49-F238E27FC236}">
                <a16:creationId xmlns:a16="http://schemas.microsoft.com/office/drawing/2014/main" id="{72DD4CC5-E725-85EA-34EA-29B529A0F56B}"/>
              </a:ext>
            </a:extLst>
          </p:cNvPr>
          <p:cNvPicPr>
            <a:picLocks noChangeAspect="1"/>
          </p:cNvPicPr>
          <p:nvPr/>
        </p:nvPicPr>
        <p:blipFill>
          <a:blip r:embed="rId2"/>
          <a:stretch>
            <a:fillRect/>
          </a:stretch>
        </p:blipFill>
        <p:spPr>
          <a:xfrm>
            <a:off x="783608" y="2947561"/>
            <a:ext cx="10372072" cy="1897572"/>
          </a:xfrm>
          <a:prstGeom prst="rect">
            <a:avLst/>
          </a:prstGeom>
        </p:spPr>
      </p:pic>
    </p:spTree>
    <p:extLst>
      <p:ext uri="{BB962C8B-B14F-4D97-AF65-F5344CB8AC3E}">
        <p14:creationId xmlns:p14="http://schemas.microsoft.com/office/powerpoint/2010/main" val="1293422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ersonnalisé">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mbre supérieur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_41798770_TF56160789" id="{80AA9D2D-EE59-4148-A11E-A51EEE828B28}" vid="{AEAFD717-D3C8-4034-8F7E-D5220B0CCEB8}"/>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59056</TotalTime>
  <Words>3495</Words>
  <Application>Microsoft Office PowerPoint</Application>
  <PresentationFormat>Grand écran</PresentationFormat>
  <Paragraphs>266</Paragraphs>
  <Slides>57</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57</vt:i4>
      </vt:variant>
    </vt:vector>
  </HeadingPairs>
  <TitlesOfParts>
    <vt:vector size="63" baseType="lpstr">
      <vt:lpstr>Arial</vt:lpstr>
      <vt:lpstr>Bookman Old Style</vt:lpstr>
      <vt:lpstr>Calibri</vt:lpstr>
      <vt:lpstr>Franklin Gothic Book</vt:lpstr>
      <vt:lpstr>Times New Roman</vt:lpstr>
      <vt:lpstr>Personnalisé</vt:lpstr>
      <vt:lpstr>BMPN</vt:lpstr>
      <vt:lpstr>Definition</vt:lpstr>
      <vt:lpstr>Définition</vt:lpstr>
      <vt:lpstr>Exemple de processus métier</vt:lpstr>
      <vt:lpstr>Définition</vt:lpstr>
      <vt:lpstr>Gestion des processus métier</vt:lpstr>
      <vt:lpstr>Cycle de vie de BPM</vt:lpstr>
      <vt:lpstr>Cycle de vie de BPM</vt:lpstr>
      <vt:lpstr>Cycle de vie de BPM</vt:lpstr>
      <vt:lpstr>Cycle de vie de BPM</vt:lpstr>
      <vt:lpstr>Cycle de vie de BPM</vt:lpstr>
      <vt:lpstr>Cycle de vie de BPM</vt:lpstr>
      <vt:lpstr>Workflow</vt:lpstr>
      <vt:lpstr>Différence entre processus métier et workflow</vt:lpstr>
      <vt:lpstr>Différence entre processus métier et workflow</vt:lpstr>
      <vt:lpstr>Différence entre processus métier et workflow</vt:lpstr>
      <vt:lpstr>Différence entre processus métier et workflow</vt:lpstr>
      <vt:lpstr>Modélisation</vt:lpstr>
      <vt:lpstr>BPMN: Business Process Modeling Notation</vt:lpstr>
      <vt:lpstr>Notation BPMN 2.0</vt:lpstr>
      <vt:lpstr>Notation BPMN 2.0</vt:lpstr>
      <vt:lpstr>Les objets de flux</vt:lpstr>
      <vt:lpstr>Les activités</vt:lpstr>
      <vt:lpstr>Les tâches</vt:lpstr>
      <vt:lpstr>Les tâches</vt:lpstr>
      <vt:lpstr>Les tâches</vt:lpstr>
      <vt:lpstr>Les tâches</vt:lpstr>
      <vt:lpstr>Les sous-processus et activité d’appel</vt:lpstr>
      <vt:lpstr>Les événements</vt:lpstr>
      <vt:lpstr>Présentation PowerPoint</vt:lpstr>
      <vt:lpstr>Présentation PowerPoint</vt:lpstr>
      <vt:lpstr>Les événements</vt:lpstr>
      <vt:lpstr>Les événements</vt:lpstr>
      <vt:lpstr>Les événements</vt:lpstr>
      <vt:lpstr>Les événements</vt:lpstr>
      <vt:lpstr>Les passerelles</vt:lpstr>
      <vt:lpstr>Les passerelles</vt:lpstr>
      <vt:lpstr>Les passerelles</vt:lpstr>
      <vt:lpstr>Les objets connexion</vt:lpstr>
      <vt:lpstr>Les flux de séquence</vt:lpstr>
      <vt:lpstr>Les flux de séquence</vt:lpstr>
      <vt:lpstr>Les flux de séquence</vt:lpstr>
      <vt:lpstr>Les flux de message</vt:lpstr>
      <vt:lpstr>Les association</vt:lpstr>
      <vt:lpstr>Les partitions</vt:lpstr>
      <vt:lpstr>Les participants (pool)</vt:lpstr>
      <vt:lpstr>Les participants (pool)</vt:lpstr>
      <vt:lpstr>Les couloirs (Lane)</vt:lpstr>
      <vt:lpstr>Les données</vt:lpstr>
      <vt:lpstr>Données</vt:lpstr>
      <vt:lpstr>Les données</vt:lpstr>
      <vt:lpstr>Les artéfacts</vt:lpstr>
      <vt:lpstr>Les aerétfacts</vt:lpstr>
      <vt:lpstr>Exemple de processus d’irrigation modélisé en BPMN</vt:lpstr>
      <vt:lpstr>Types de diagrammes BPMN</vt:lpstr>
      <vt:lpstr>Diagramme de processus</vt:lpstr>
      <vt:lpstr>Processus métier privé (interne)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ALGO3 : Algorithmique et structures de données </dc:title>
  <dc:creator>souad marir</dc:creator>
  <cp:lastModifiedBy>souad marir</cp:lastModifiedBy>
  <cp:revision>683</cp:revision>
  <dcterms:created xsi:type="dcterms:W3CDTF">2023-09-28T12:22:39Z</dcterms:created>
  <dcterms:modified xsi:type="dcterms:W3CDTF">2026-04-13T21:30:17Z</dcterms:modified>
</cp:coreProperties>
</file>